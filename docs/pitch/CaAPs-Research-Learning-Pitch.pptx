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p:sldMasterIdLst>
    <p:sldMasterId id="2147483648" r:id="rIdMaster"/>
  </p:sldMasterIdLst>
  <p:notesMasterIdLst>
    <p:notesMasterId r:id="rIdNotes"/>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Lst>
  <p:sldSz cx="12192000" cy="6858000" type="screen16x9"/>
  <p:notesSz cx="6858000" cy="9144000"/>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Master" Type="http://schemas.openxmlformats.org/officeDocument/2006/relationships/notesMaster" Target="../notesMasters/notesMaster1.xml"/><Relationship Id="rIdSlide" Type="http://schemas.openxmlformats.org/officeDocument/2006/relationships/slide" Target="../slides/slide11.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Good day. We are presenting CaAPs, a cacao quality and traceability prototype. Our focus is the post-harvest challenge of smallholder farmers and cooperatives in Zamboanga del Norte: making the process visible enough to review, improve and learn from each batch.</a:t>
            </a:r>
            <a:endParaRPr lang="en-US" sz="1200"/>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The challenge poster reports that up to thirty to forty percent of beans are downgraded, reducing farmer income. We treat that as the challenge owner’s statement, not as a result measured by CaAPs. Our research question is: how can farmers and cooperatives document post-harvest practices, identify where batches fall short, and use evidence to improve the next batch? The local baseline still needs validation.</a:t>
            </a:r>
            <a:endParaRPr lang="en-US" sz="1200"/>
          </a:p>
          <a:p>
            <a:pPr>
              <a:spcAft>
                <a:spcPts val="800"/>
              </a:spcAft>
            </a:pPr>
            <a:r>
              <a:rPr lang="en-US" sz="1200" b="0">
                <a:solidFill>
                  <a:srgbClr val="203A2A"/>
                </a:solidFill>
                <a:latin typeface="Segoe UI"/>
              </a:rPr>
              <a:t xml:space="preserve">Source: user-supplied industry challenge poster. Baseline not independently validated.</a:t>
            </a:r>
            <a:endParaRPr lang="en-US" sz="1200"/>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We began with the supplied industry challenge and desk research. ICCO supports the importance of fermentation and careful drying. DOST-PCAARRD identifies post-harvest skills, grading and access to facilities as sector challenges. That led to a design decision: software should support observation and accountability alongside equipment and training. We have not yet completed farmer interviews, tested local adoption or established that this prototype changes bean quality.</a:t>
            </a:r>
            <a:endParaRPr lang="en-US" sz="1200"/>
          </a:p>
          <a:p>
            <a:pPr>
              <a:spcAft>
                <a:spcPts val="800"/>
              </a:spcAft>
            </a:pPr>
            <a:r>
              <a:rPr lang="en-US" sz="1200" b="0">
                <a:solidFill>
                  <a:srgbClr val="203A2A"/>
                </a:solidFill>
                <a:latin typeface="Segoe UI"/>
              </a:rPr>
              <a:t xml:space="preserve">Sources: ICCO, Harvesting &amp; Post-harvest; DOST-PCAARRD, Cacao Industry Profile.</a:t>
            </a:r>
            <a:endParaRPr lang="en-US" sz="1200"/>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CaAPs links a harvest to a batch and follows its stages through fermentation, drying, quality review, storage and sale. Process observations sit beside that history: temperature, turning, moisture and conditions. Cooperative handovers identify the facilities and the person recorded as receiving the batch. This is traceability through recorded events. It is not automatic proof that a physical process happened, and a typed recipient is not a digital signature.</a:t>
            </a:r>
            <a:endParaRPr lang="en-US" sz="1200"/>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This is the prototype workspace using fictional demonstration records. Staff define the agreed protocol and acceptance limits. Farmers can enter process measurements and ungraded quality observations. Assigned staff enter the final grade. A correction retains the original entry while replacing its contribution to the report. Measurements are manual; no sensor or laboratory system is connected. The dashboard distinguishes recorded sales and logged processing costs from total farm profit, and shows unassessed quality as unknown rather than zero.</a:t>
            </a:r>
            <a:endParaRPr lang="en-US" sz="1200"/>
          </a:p>
          <a:p>
            <a:pPr>
              <a:spcAft>
                <a:spcPts val="800"/>
              </a:spcAft>
            </a:pPr>
            <a:r>
              <a:rPr lang="en-US" sz="1200" b="0">
                <a:solidFill>
                  <a:srgbClr val="203A2A"/>
                </a:solidFill>
                <a:latin typeface="Segoe UI"/>
              </a:rPr>
              <a:t xml:space="preserve">Illustrative screen uses isolated fictional fixtures. No live farmer data.</a:t>
            </a:r>
            <a:endParaRPr lang="en-US" sz="1200"/>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For storage, the new server guard requires an agreed protocol and a supporting quality assessment. It checks the configured minimum fermentation time, measured moisture, sample defects and recorded grade. These checks use the batch’s agreed limits; we do not prescribe one universal schedule. Access remains limited to the owner and authorized staff. Account permissions identify who recorded a decision, while reviewer competence and buyer acceptance still need to be established outside the software.</a:t>
            </a:r>
            <a:endParaRPr lang="en-US" sz="1200"/>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We propose a six-to-eight-week pilot with one cooperative and three to five farmers, subject to partner agreement. First, validate the problem and agree the protocol and baseline. Then record comparable batches and review completeness, missed checks, grades, assessed weight, price per kilogram and logged processing costs. Comparisons should account for buyer, variety, season and facility differences. This pilot can reveal feasibility and useful patterns; it does not automatically establish that the app caused an income improvement.</a:t>
            </a:r>
            <a:endParaRPr lang="en-US" sz="1200"/>
          </a:p>
          <a:p>
            <a:pPr>
              <a:spcAft>
                <a:spcPts val="800"/>
              </a:spcAft>
            </a:pPr>
            <a:r>
              <a:rPr lang="en-US" sz="1200" b="0">
                <a:solidFill>
                  <a:srgbClr val="203A2A"/>
                </a:solidFill>
                <a:latin typeface="Segoe UI"/>
              </a:rPr>
              <a:t xml:space="preserve">Proposed pilot design, not confirmed participation or measured impact.</a:t>
            </a:r>
            <a:endParaRPr lang="en-US" sz="1200"/>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The software now has a local prototype for batch records, process observations, staff review, corrections and reporting. Automated and browser checks evaluate software behavior with isolated fixtures. They are not proof that the hosted database, outdoor use or post-harvest outcomes work. Staging migration, deployment verification, training, measurement tools and actual participant testing remain necessary. We are presenting a testable prototype and a learning plan, not a completed impact study.</a:t>
            </a:r>
            <a:endParaRPr lang="en-US" sz="1200"/>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Our Research Learning approach is a repeatable loop. Observe what farmers actually do and where recording becomes difficult. Compare the observations with the agreed protocol. Reflect with farmers, staff and buyers on what the records can and cannot explain. Then revise the workflow and test the next batch. We will document failed assumptions as well as useful features. This keeps the project grounded in learning rather than presenting every dashboard number as proof of success.</a:t>
            </a:r>
            <a:endParaRPr lang="en-US" sz="1200"/>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Our next request is a pilot partnership: a cooperative, three to five farmers, a qualified reviewer, buyer-agreed criteria and access to measurement tools and processing facilities. We also need permission to collect a baseline and hold regular learning reviews. We are not promising a specific reduction in downgraded beans or a specific income increase. We are offering a practical way to collect the evidence needed to evaluate those goals. Thank you; we welcome questions and feedback.</a:t>
            </a:r>
            <a:endParaRPr lang="en-US" sz="1200"/>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peaker notes"/>
          <p:cNvSpPr/>
          <p:nvPr>
            <p:ph type="body" idx="1"/>
          </p:nvPr>
        </p:nvSpPr>
        <p:spPr>
          <a:xfrm>
            <a:off x="685800" y="2500000"/>
            <a:ext cx="5486400" cy="6000000"/>
          </a:xfrm>
          <a:prstGeom prst="rect">
            <a:avLst/>
          </a:prstGeom>
          <a:noFill/>
        </p:spPr>
        <p:txBody>
          <a:bodyPr wrap="square" lIns="0" rIns="0" tIns="0" bIns="0" anchor="t">
            <a:noAutofit/>
          </a:bodyPr>
          <a:lstStyle/>
          <a:p>
            <a:pPr>
              <a:spcAft>
                <a:spcPts val="800"/>
              </a:spcAft>
            </a:pPr>
            <a:r>
              <a:rPr lang="en-US" sz="1200" b="0">
                <a:solidFill>
                  <a:srgbClr val="203A2A"/>
                </a:solidFill>
                <a:latin typeface="Segoe UI"/>
              </a:rPr>
              <a:t xml:space="preserve">Research Learning was the user’s definition of RLE. No institutional marking rubric was provided, so the main slides use a problem-evidence-prototype-learning-pilot structure. Technical capabilities must be checked after staging migration and deployment. No interviews, named partnerships, market-size figures, grant amount, sensor integration or field outcomes were invented.</a:t>
            </a:r>
            <a:endParaRPr lang="en-US" sz="1200"/>
          </a:p>
          <a:p>
            <a:pPr>
              <a:spcAft>
                <a:spcPts val="800"/>
              </a:spcAft>
            </a:pPr>
            <a:r>
              <a:rPr lang="en-US" sz="1200" b="0">
                <a:solidFill>
                  <a:srgbClr val="203A2A"/>
                </a:solidFill>
                <a:latin typeface="Segoe UI"/>
              </a:rPr>
              <a:t xml:space="preserve">https://www.icco.org/harvesting-post-harvest-new/</a:t>
            </a:r>
            <a:endParaRPr lang="en-US" sz="1200"/>
          </a:p>
          <a:p>
            <a:pPr>
              <a:spcAft>
                <a:spcPts val="800"/>
              </a:spcAft>
            </a:pPr>
            <a:r>
              <a:rPr lang="en-US" sz="1200" b="0">
                <a:solidFill>
                  <a:srgbClr val="203A2A"/>
                </a:solidFill>
                <a:latin typeface="Segoe UI"/>
              </a:rPr>
              <a:t xml:space="preserve">https://ispweb.pcaarrd.dost.gov.ph/isp-commodities/cacao/</a:t>
            </a:r>
            <a:endParaRPr lang="en-US" sz="1200"/>
          </a:p>
          <a:p>
            <a:pPr>
              <a:spcAft>
                <a:spcPts val="800"/>
              </a:spcAft>
            </a:pPr>
            <a:r>
              <a:rPr lang="en-US" sz="1200" b="0">
                <a:solidFill>
                  <a:srgbClr val="203A2A"/>
                </a:solidFill>
                <a:latin typeface="Segoe UI"/>
              </a:rPr>
              <a:t xml:space="preserve">https://www.tesda.gov.ph/Downloadables/CS/CS-%20Cacao%20Bean%20Grading%20Level%20II.pdf</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 Id="rIdImage1" Type="http://schemas.openxmlformats.org/officeDocument/2006/relationships/image" Target="../media/image1.png"/></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2" Type="http://schemas.openxmlformats.org/officeDocument/2006/relationships/image" Target="../media/image2.pn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63D2A"/>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CBDAC7"/>
                </a:solidFill>
                <a:latin typeface="Segoe UI"/>
              </a:rPr>
              <a:t xml:space="preserve">RESEARCH LEARNING · 5-MINUTE PITCH</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CAAPS / 01</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15 sec</a:t>
            </a:r>
            <a:endParaRPr lang="en-US" sz="1000"/>
          </a:p>
        </p:txBody>
      </p:sp>
      <p:sp>
        <p:nvSpPr>
          <p:cNvPr id="6" name="Text 6"/>
          <p:cNvSpPr txBox="1"/>
          <p:nvPr/>
        </p:nvSpPr>
        <p:spPr>
          <a:xfrm>
            <a:off x="685800" y="1333500"/>
            <a:ext cx="8636000" cy="3048000"/>
          </a:xfrm>
          <a:prstGeom prst="rect">
            <a:avLst/>
          </a:prstGeom>
          <a:noFill/>
          <a:ln>
            <a:noFill/>
          </a:ln>
        </p:spPr>
        <p:txBody>
          <a:bodyPr wrap="square" lIns="0" rIns="0" tIns="0" bIns="0" anchor="t">
            <a:noAutofit/>
          </a:bodyPr>
          <a:lstStyle/>
          <a:p>
            <a:pPr>
              <a:spcAft>
                <a:spcPts val="800"/>
              </a:spcAft>
            </a:pPr>
            <a:r>
              <a:rPr lang="en-US" sz="4600" b="1">
                <a:solidFill>
                  <a:srgbClr val="F5F4E9"/>
                </a:solidFill>
                <a:latin typeface="Segoe UI"/>
              </a:rPr>
              <a:t xml:space="preserve">Better cacao.</a:t>
            </a:r>
            <a:endParaRPr lang="en-US" sz="4600"/>
          </a:p>
          <a:p>
            <a:pPr>
              <a:spcAft>
                <a:spcPts val="800"/>
              </a:spcAft>
            </a:pPr>
            <a:r>
              <a:rPr lang="en-US" sz="4600" b="1">
                <a:solidFill>
                  <a:srgbClr val="F5F4E9"/>
                </a:solidFill>
                <a:latin typeface="Segoe UI"/>
              </a:rPr>
              <a:t xml:space="preserve">Measured process.</a:t>
            </a:r>
            <a:endParaRPr lang="en-US" sz="4600"/>
          </a:p>
          <a:p>
            <a:pPr>
              <a:spcAft>
                <a:spcPts val="800"/>
              </a:spcAft>
            </a:pPr>
            <a:r>
              <a:rPr lang="en-US" sz="4600" b="1">
                <a:solidFill>
                  <a:srgbClr val="F5F4E9"/>
                </a:solidFill>
                <a:latin typeface="Segoe UI"/>
              </a:rPr>
              <a:t xml:space="preserve">Shared learning.</a:t>
            </a:r>
            <a:endParaRPr lang="en-US" sz="4600"/>
          </a:p>
        </p:txBody>
      </p:sp>
      <p:sp>
        <p:nvSpPr>
          <p:cNvPr id="7" name="Text 7"/>
          <p:cNvSpPr txBox="1"/>
          <p:nvPr/>
        </p:nvSpPr>
        <p:spPr>
          <a:xfrm>
            <a:off x="723900" y="4699000"/>
            <a:ext cx="10033000" cy="444500"/>
          </a:xfrm>
          <a:prstGeom prst="rect">
            <a:avLst/>
          </a:prstGeom>
          <a:noFill/>
          <a:ln>
            <a:noFill/>
          </a:ln>
        </p:spPr>
        <p:txBody>
          <a:bodyPr wrap="square" lIns="0" rIns="0" tIns="0" bIns="0" anchor="t">
            <a:noAutofit/>
          </a:bodyPr>
          <a:lstStyle/>
          <a:p>
            <a:pPr>
              <a:spcAft>
                <a:spcPts val="800"/>
              </a:spcAft>
            </a:pPr>
            <a:r>
              <a:rPr lang="en-US" sz="2300" b="0">
                <a:solidFill>
                  <a:srgbClr val="C7AA60"/>
                </a:solidFill>
                <a:latin typeface="Segoe UI"/>
              </a:rPr>
              <a:t xml:space="preserve">CaAPs · Cacao Quality &amp; Traceability</a:t>
            </a:r>
            <a:endParaRPr lang="en-US" sz="2300"/>
          </a:p>
        </p:txBody>
      </p:sp>
      <p:sp>
        <p:nvSpPr>
          <p:cNvPr id="8" name="Text 8"/>
          <p:cNvSpPr txBox="1"/>
          <p:nvPr/>
        </p:nvSpPr>
        <p:spPr>
          <a:xfrm>
            <a:off x="723900" y="5473700"/>
            <a:ext cx="10160000" cy="482600"/>
          </a:xfrm>
          <a:prstGeom prst="rect">
            <a:avLst/>
          </a:prstGeom>
          <a:noFill/>
          <a:ln>
            <a:noFill/>
          </a:ln>
        </p:spPr>
        <p:txBody>
          <a:bodyPr wrap="square" lIns="0" rIns="0" tIns="0" bIns="0" anchor="t">
            <a:noAutofit/>
          </a:bodyPr>
          <a:lstStyle/>
          <a:p>
            <a:pPr>
              <a:spcAft>
                <a:spcPts val="800"/>
              </a:spcAft>
            </a:pPr>
            <a:r>
              <a:rPr lang="en-US" sz="1600" b="0">
                <a:solidFill>
                  <a:srgbClr val="CBDAC7"/>
                </a:solidFill>
                <a:latin typeface="Segoe UI"/>
              </a:rPr>
              <a:t xml:space="preserve">Zamboanga del Norte industry challenge | Presenter: CaAPs Team</a:t>
            </a:r>
            <a:endParaRPr lang="en-US" sz="1600"/>
          </a:p>
        </p:txBody>
      </p:sp>
      <p:pic>
        <p:nvPicPr>
          <p:cNvPr id="9" name="Embedded image"/>
          <p:cNvPicPr>
            <a:picLocks noChangeAspect="1"/>
          </p:cNvPicPr>
          <p:nvPr/>
        </p:nvPicPr>
        <p:blipFill>
          <a:blip r:embed="rIdImage1"/>
          <a:stretch>
            <a:fillRect/>
          </a:stretch>
        </p:blipFill>
        <p:spPr>
          <a:xfrm>
            <a:off x="9677400" y="1016000"/>
            <a:ext cx="1714500" cy="17145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01 · THE INDUSTRY QUESTION</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02</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30 sec</a:t>
            </a:r>
            <a:endParaRPr lang="en-US" sz="1000"/>
          </a:p>
        </p:txBody>
      </p:sp>
      <p:sp>
        <p:nvSpPr>
          <p:cNvPr id="6" name="Text 6"/>
          <p:cNvSpPr txBox="1"/>
          <p:nvPr/>
        </p:nvSpPr>
        <p:spPr>
          <a:xfrm>
            <a:off x="635000" y="1041400"/>
            <a:ext cx="10795000" cy="1143000"/>
          </a:xfrm>
          <a:prstGeom prst="rect">
            <a:avLst/>
          </a:prstGeom>
          <a:noFill/>
          <a:ln>
            <a:noFill/>
          </a:ln>
        </p:spPr>
        <p:txBody>
          <a:bodyPr wrap="square" lIns="0" rIns="0" tIns="0" bIns="0" anchor="t">
            <a:noAutofit/>
          </a:bodyPr>
          <a:lstStyle/>
          <a:p>
            <a:pPr>
              <a:spcAft>
                <a:spcPts val="800"/>
              </a:spcAft>
            </a:pPr>
            <a:r>
              <a:rPr lang="en-US" sz="3400" b="1">
                <a:solidFill>
                  <a:srgbClr val="203A2A"/>
                </a:solidFill>
                <a:latin typeface="Segoe UI"/>
              </a:rPr>
              <a:t xml:space="preserve">Where does a harvest lose its value?</a:t>
            </a:r>
            <a:endParaRPr lang="en-US" sz="3400"/>
          </a:p>
        </p:txBody>
      </p:sp>
      <p:sp>
        <p:nvSpPr>
          <p:cNvPr id="7" name="Panel 7"/>
          <p:cNvSpPr/>
          <p:nvPr/>
        </p:nvSpPr>
        <p:spPr>
          <a:xfrm>
            <a:off x="635000" y="2476500"/>
            <a:ext cx="3810000" cy="2921000"/>
          </a:xfrm>
          <a:prstGeom prst="rect">
            <a:avLst/>
          </a:prstGeom>
          <a:solidFill>
            <a:srgbClr val="163D2A"/>
          </a:solidFill>
          <a:ln>
            <a:noFill/>
          </a:ln>
        </p:spPr>
      </p:sp>
      <p:sp>
        <p:nvSpPr>
          <p:cNvPr id="8" name="Text 8"/>
          <p:cNvSpPr txBox="1"/>
          <p:nvPr/>
        </p:nvSpPr>
        <p:spPr>
          <a:xfrm>
            <a:off x="952500" y="2844800"/>
            <a:ext cx="3175000" cy="1143000"/>
          </a:xfrm>
          <a:prstGeom prst="rect">
            <a:avLst/>
          </a:prstGeom>
          <a:noFill/>
          <a:ln>
            <a:noFill/>
          </a:ln>
        </p:spPr>
        <p:txBody>
          <a:bodyPr wrap="square" lIns="0" rIns="0" tIns="0" bIns="0" anchor="t">
            <a:noAutofit/>
          </a:bodyPr>
          <a:lstStyle/>
          <a:p>
            <a:pPr>
              <a:spcAft>
                <a:spcPts val="800"/>
              </a:spcAft>
            </a:pPr>
            <a:r>
              <a:rPr lang="en-US" sz="5800" b="1">
                <a:solidFill>
                  <a:srgbClr val="C7AA60"/>
                </a:solidFill>
                <a:latin typeface="Segoe UI"/>
              </a:rPr>
              <a:t xml:space="preserve">30–40%</a:t>
            </a:r>
            <a:endParaRPr lang="en-US" sz="5800"/>
          </a:p>
        </p:txBody>
      </p:sp>
      <p:sp>
        <p:nvSpPr>
          <p:cNvPr id="9" name="Text 9"/>
          <p:cNvSpPr txBox="1"/>
          <p:nvPr/>
        </p:nvSpPr>
        <p:spPr>
          <a:xfrm>
            <a:off x="952500" y="4140200"/>
            <a:ext cx="3175000" cy="965200"/>
          </a:xfrm>
          <a:prstGeom prst="rect">
            <a:avLst/>
          </a:prstGeom>
          <a:noFill/>
          <a:ln>
            <a:noFill/>
          </a:ln>
        </p:spPr>
        <p:txBody>
          <a:bodyPr wrap="square" lIns="0" rIns="0" tIns="0" bIns="0" anchor="t">
            <a:noAutofit/>
          </a:bodyPr>
          <a:lstStyle/>
          <a:p>
            <a:pPr>
              <a:spcAft>
                <a:spcPts val="800"/>
              </a:spcAft>
            </a:pPr>
            <a:r>
              <a:rPr lang="en-US" sz="1700" b="0">
                <a:solidFill>
                  <a:srgbClr val="F5F4E9"/>
                </a:solidFill>
                <a:latin typeface="Segoe UI"/>
              </a:rPr>
              <a:t xml:space="preserve">downgraded beans reported on the challenge poster</a:t>
            </a:r>
            <a:endParaRPr lang="en-US" sz="1700"/>
          </a:p>
        </p:txBody>
      </p:sp>
      <p:sp>
        <p:nvSpPr>
          <p:cNvPr id="10" name="Panel 10"/>
          <p:cNvSpPr/>
          <p:nvPr/>
        </p:nvSpPr>
        <p:spPr>
          <a:xfrm>
            <a:off x="4953000" y="2717800"/>
            <a:ext cx="76200" cy="76200"/>
          </a:xfrm>
          <a:prstGeom prst="rect">
            <a:avLst/>
          </a:prstGeom>
          <a:solidFill>
            <a:srgbClr val="C7AA60"/>
          </a:solidFill>
          <a:ln>
            <a:noFill/>
          </a:ln>
        </p:spPr>
      </p:sp>
      <p:sp>
        <p:nvSpPr>
          <p:cNvPr id="11" name="Text 11"/>
          <p:cNvSpPr txBox="1"/>
          <p:nvPr/>
        </p:nvSpPr>
        <p:spPr>
          <a:xfrm>
            <a:off x="5232400" y="26035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Inconsistent post-harvest handling</a:t>
            </a:r>
            <a:endParaRPr lang="en-US" sz="2100"/>
          </a:p>
        </p:txBody>
      </p:sp>
      <p:sp>
        <p:nvSpPr>
          <p:cNvPr id="12" name="Panel 12"/>
          <p:cNvSpPr/>
          <p:nvPr/>
        </p:nvSpPr>
        <p:spPr>
          <a:xfrm>
            <a:off x="4953000" y="3543300"/>
            <a:ext cx="76200" cy="76200"/>
          </a:xfrm>
          <a:prstGeom prst="rect">
            <a:avLst/>
          </a:prstGeom>
          <a:solidFill>
            <a:srgbClr val="C7AA60"/>
          </a:solidFill>
          <a:ln>
            <a:noFill/>
          </a:ln>
        </p:spPr>
      </p:sp>
      <p:sp>
        <p:nvSpPr>
          <p:cNvPr id="13" name="Text 13"/>
          <p:cNvSpPr txBox="1"/>
          <p:nvPr/>
        </p:nvSpPr>
        <p:spPr>
          <a:xfrm>
            <a:off x="5232400" y="34290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Fermentation and drying are difficult to compare</a:t>
            </a:r>
            <a:endParaRPr lang="en-US" sz="2100"/>
          </a:p>
        </p:txBody>
      </p:sp>
      <p:sp>
        <p:nvSpPr>
          <p:cNvPr id="14" name="Panel 14"/>
          <p:cNvSpPr/>
          <p:nvPr/>
        </p:nvSpPr>
        <p:spPr>
          <a:xfrm>
            <a:off x="4953000" y="4368800"/>
            <a:ext cx="76200" cy="76200"/>
          </a:xfrm>
          <a:prstGeom prst="rect">
            <a:avLst/>
          </a:prstGeom>
          <a:solidFill>
            <a:srgbClr val="C7AA60"/>
          </a:solidFill>
          <a:ln>
            <a:noFill/>
          </a:ln>
        </p:spPr>
      </p:sp>
      <p:sp>
        <p:nvSpPr>
          <p:cNvPr id="15" name="Text 15"/>
          <p:cNvSpPr txBox="1"/>
          <p:nvPr/>
        </p:nvSpPr>
        <p:spPr>
          <a:xfrm>
            <a:off x="5232400" y="42545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Quality decisions need a traceable record</a:t>
            </a:r>
            <a:endParaRPr lang="en-US" sz="2100"/>
          </a:p>
        </p:txBody>
      </p:sp>
      <p:sp>
        <p:nvSpPr>
          <p:cNvPr id="16" name="Text 16"/>
          <p:cNvSpPr txBox="1"/>
          <p:nvPr/>
        </p:nvSpPr>
        <p:spPr>
          <a:xfrm>
            <a:off x="635000" y="6057900"/>
            <a:ext cx="10922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Source: user-supplied industry challenge poster. Baseline not independently validated.</a:t>
            </a:r>
            <a:endParaRPr lang="en-US" sz="10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02 · WHAT RESEARCH TELLS US</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03</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30 sec</a:t>
            </a:r>
            <a:endParaRPr lang="en-US" sz="1000"/>
          </a:p>
        </p:txBody>
      </p:sp>
      <p:sp>
        <p:nvSpPr>
          <p:cNvPr id="6" name="Text 6"/>
          <p:cNvSpPr txBox="1"/>
          <p:nvPr/>
        </p:nvSpPr>
        <p:spPr>
          <a:xfrm>
            <a:off x="635000" y="1041400"/>
            <a:ext cx="10922000" cy="1270000"/>
          </a:xfrm>
          <a:prstGeom prst="rect">
            <a:avLst/>
          </a:prstGeom>
          <a:noFill/>
          <a:ln>
            <a:noFill/>
          </a:ln>
        </p:spPr>
        <p:txBody>
          <a:bodyPr wrap="square" lIns="0" rIns="0" tIns="0" bIns="0" anchor="t">
            <a:noAutofit/>
          </a:bodyPr>
          <a:lstStyle/>
          <a:p>
            <a:pPr>
              <a:spcAft>
                <a:spcPts val="800"/>
              </a:spcAft>
            </a:pPr>
            <a:r>
              <a:rPr lang="en-US" sz="3500" b="1">
                <a:solidFill>
                  <a:srgbClr val="203A2A"/>
                </a:solidFill>
                <a:latin typeface="Segoe UI"/>
              </a:rPr>
              <a:t xml:space="preserve">The process matters.</a:t>
            </a:r>
            <a:endParaRPr lang="en-US" sz="3500"/>
          </a:p>
          <a:p>
            <a:pPr>
              <a:spcAft>
                <a:spcPts val="800"/>
              </a:spcAft>
            </a:pPr>
            <a:r>
              <a:rPr lang="en-US" sz="3500" b="1">
                <a:solidFill>
                  <a:srgbClr val="203A2A"/>
                </a:solidFill>
                <a:latin typeface="Segoe UI"/>
              </a:rPr>
              <a:t xml:space="preserve">So does the evidence.</a:t>
            </a:r>
            <a:endParaRPr lang="en-US" sz="3500"/>
          </a:p>
        </p:txBody>
      </p:sp>
      <p:sp>
        <p:nvSpPr>
          <p:cNvPr id="7" name="Panel 7"/>
          <p:cNvSpPr/>
          <p:nvPr/>
        </p:nvSpPr>
        <p:spPr>
          <a:xfrm>
            <a:off x="762000" y="2717800"/>
            <a:ext cx="76200" cy="76200"/>
          </a:xfrm>
          <a:prstGeom prst="rect">
            <a:avLst/>
          </a:prstGeom>
          <a:solidFill>
            <a:srgbClr val="C7AA60"/>
          </a:solidFill>
          <a:ln>
            <a:noFill/>
          </a:ln>
        </p:spPr>
      </p:sp>
      <p:sp>
        <p:nvSpPr>
          <p:cNvPr id="8" name="Text 8"/>
          <p:cNvSpPr txBox="1"/>
          <p:nvPr/>
        </p:nvSpPr>
        <p:spPr>
          <a:xfrm>
            <a:off x="1041400" y="26035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ICCO explains the role of fermentation and controlled drying.</a:t>
            </a:r>
            <a:endParaRPr lang="en-US" sz="2300"/>
          </a:p>
        </p:txBody>
      </p:sp>
      <p:sp>
        <p:nvSpPr>
          <p:cNvPr id="9" name="Panel 9"/>
          <p:cNvSpPr/>
          <p:nvPr/>
        </p:nvSpPr>
        <p:spPr>
          <a:xfrm>
            <a:off x="762000" y="3505200"/>
            <a:ext cx="76200" cy="76200"/>
          </a:xfrm>
          <a:prstGeom prst="rect">
            <a:avLst/>
          </a:prstGeom>
          <a:solidFill>
            <a:srgbClr val="C7AA60"/>
          </a:solidFill>
          <a:ln>
            <a:noFill/>
          </a:ln>
        </p:spPr>
      </p:sp>
      <p:sp>
        <p:nvSpPr>
          <p:cNvPr id="10" name="Text 10"/>
          <p:cNvSpPr txBox="1"/>
          <p:nvPr/>
        </p:nvSpPr>
        <p:spPr>
          <a:xfrm>
            <a:off x="1041400" y="33909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DOST-PCAARRD identifies skills, grading and facility-access gaps.</a:t>
            </a:r>
            <a:endParaRPr lang="en-US" sz="2300"/>
          </a:p>
        </p:txBody>
      </p:sp>
      <p:sp>
        <p:nvSpPr>
          <p:cNvPr id="11" name="Panel 11"/>
          <p:cNvSpPr/>
          <p:nvPr/>
        </p:nvSpPr>
        <p:spPr>
          <a:xfrm>
            <a:off x="762000" y="4292600"/>
            <a:ext cx="76200" cy="76200"/>
          </a:xfrm>
          <a:prstGeom prst="rect">
            <a:avLst/>
          </a:prstGeom>
          <a:solidFill>
            <a:srgbClr val="C7AA60"/>
          </a:solidFill>
          <a:ln>
            <a:noFill/>
          </a:ln>
        </p:spPr>
      </p:sp>
      <p:sp>
        <p:nvSpPr>
          <p:cNvPr id="12" name="Text 12"/>
          <p:cNvSpPr txBox="1"/>
          <p:nvPr/>
        </p:nvSpPr>
        <p:spPr>
          <a:xfrm>
            <a:off x="1041400" y="41783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Design implication: combine records with tools, training and review.</a:t>
            </a:r>
            <a:endParaRPr lang="en-US" sz="2300"/>
          </a:p>
        </p:txBody>
      </p:sp>
      <p:sp>
        <p:nvSpPr>
          <p:cNvPr id="13" name="Text 13"/>
          <p:cNvSpPr txBox="1"/>
          <p:nvPr/>
        </p:nvSpPr>
        <p:spPr>
          <a:xfrm>
            <a:off x="635000" y="6057900"/>
            <a:ext cx="10922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Sources: ICCO, Harvesting &amp; Post-harvest; DOST-PCAARRD, Cacao Industry Profile.</a:t>
            </a:r>
            <a:endParaRPr lang="en-US" sz="10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63D2A"/>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CBDAC7"/>
                </a:solidFill>
                <a:latin typeface="Segoe UI"/>
              </a:rPr>
              <a:t xml:space="preserve">03 · THE CAAPS APPROACH</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CAAPS / 04</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30 sec</a:t>
            </a:r>
            <a:endParaRPr lang="en-US" sz="1000"/>
          </a:p>
        </p:txBody>
      </p:sp>
      <p:sp>
        <p:nvSpPr>
          <p:cNvPr id="6" name="Text 6"/>
          <p:cNvSpPr txBox="1"/>
          <p:nvPr/>
        </p:nvSpPr>
        <p:spPr>
          <a:xfrm>
            <a:off x="635000" y="1054100"/>
            <a:ext cx="10922000" cy="1143000"/>
          </a:xfrm>
          <a:prstGeom prst="rect">
            <a:avLst/>
          </a:prstGeom>
          <a:noFill/>
          <a:ln>
            <a:noFill/>
          </a:ln>
        </p:spPr>
        <p:txBody>
          <a:bodyPr wrap="square" lIns="0" rIns="0" tIns="0" bIns="0" anchor="t">
            <a:noAutofit/>
          </a:bodyPr>
          <a:lstStyle/>
          <a:p>
            <a:pPr>
              <a:spcAft>
                <a:spcPts val="800"/>
              </a:spcAft>
            </a:pPr>
            <a:r>
              <a:rPr lang="en-US" sz="3600" b="1">
                <a:solidFill>
                  <a:srgbClr val="F5F4E9"/>
                </a:solidFill>
                <a:latin typeface="Segoe UI"/>
              </a:rPr>
              <a:t xml:space="preserve">One batch. A history you can follow.</a:t>
            </a:r>
            <a:endParaRPr lang="en-US" sz="3600"/>
          </a:p>
        </p:txBody>
      </p:sp>
      <p:sp>
        <p:nvSpPr>
          <p:cNvPr id="7" name="Panel 7"/>
          <p:cNvSpPr/>
          <p:nvPr/>
        </p:nvSpPr>
        <p:spPr>
          <a:xfrm>
            <a:off x="635000" y="2616200"/>
            <a:ext cx="3505200" cy="1168400"/>
          </a:xfrm>
          <a:prstGeom prst="rect">
            <a:avLst/>
          </a:prstGeom>
          <a:solidFill>
            <a:srgbClr val="2B6941"/>
          </a:solidFill>
          <a:ln>
            <a:noFill/>
          </a:ln>
        </p:spPr>
      </p:sp>
      <p:sp>
        <p:nvSpPr>
          <p:cNvPr id="8" name="Text 8"/>
          <p:cNvSpPr txBox="1"/>
          <p:nvPr/>
        </p:nvSpPr>
        <p:spPr>
          <a:xfrm>
            <a:off x="838200" y="27686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01</a:t>
            </a:r>
            <a:endParaRPr lang="en-US" sz="1200"/>
          </a:p>
        </p:txBody>
      </p:sp>
      <p:sp>
        <p:nvSpPr>
          <p:cNvPr id="9" name="Text 9"/>
          <p:cNvSpPr txBox="1"/>
          <p:nvPr/>
        </p:nvSpPr>
        <p:spPr>
          <a:xfrm>
            <a:off x="838200" y="31115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Harvest &amp; allocate</a:t>
            </a:r>
            <a:endParaRPr lang="en-US" sz="2200"/>
          </a:p>
        </p:txBody>
      </p:sp>
      <p:sp>
        <p:nvSpPr>
          <p:cNvPr id="10" name="Panel 10"/>
          <p:cNvSpPr/>
          <p:nvPr/>
        </p:nvSpPr>
        <p:spPr>
          <a:xfrm>
            <a:off x="4394200" y="2616200"/>
            <a:ext cx="3505200" cy="1168400"/>
          </a:xfrm>
          <a:prstGeom prst="rect">
            <a:avLst/>
          </a:prstGeom>
          <a:solidFill>
            <a:srgbClr val="2B6941"/>
          </a:solidFill>
          <a:ln>
            <a:noFill/>
          </a:ln>
        </p:spPr>
      </p:sp>
      <p:sp>
        <p:nvSpPr>
          <p:cNvPr id="11" name="Text 11"/>
          <p:cNvSpPr txBox="1"/>
          <p:nvPr/>
        </p:nvSpPr>
        <p:spPr>
          <a:xfrm>
            <a:off x="4597400" y="27686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02</a:t>
            </a:r>
            <a:endParaRPr lang="en-US" sz="1200"/>
          </a:p>
        </p:txBody>
      </p:sp>
      <p:sp>
        <p:nvSpPr>
          <p:cNvPr id="12" name="Text 12"/>
          <p:cNvSpPr txBox="1"/>
          <p:nvPr/>
        </p:nvSpPr>
        <p:spPr>
          <a:xfrm>
            <a:off x="4597400" y="31115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Ferment &amp; turn</a:t>
            </a:r>
            <a:endParaRPr lang="en-US" sz="2200"/>
          </a:p>
        </p:txBody>
      </p:sp>
      <p:sp>
        <p:nvSpPr>
          <p:cNvPr id="13" name="Panel 13"/>
          <p:cNvSpPr/>
          <p:nvPr/>
        </p:nvSpPr>
        <p:spPr>
          <a:xfrm>
            <a:off x="8153400" y="2616200"/>
            <a:ext cx="3505200" cy="1168400"/>
          </a:xfrm>
          <a:prstGeom prst="rect">
            <a:avLst/>
          </a:prstGeom>
          <a:solidFill>
            <a:srgbClr val="2B6941"/>
          </a:solidFill>
          <a:ln>
            <a:noFill/>
          </a:ln>
        </p:spPr>
      </p:sp>
      <p:sp>
        <p:nvSpPr>
          <p:cNvPr id="14" name="Text 14"/>
          <p:cNvSpPr txBox="1"/>
          <p:nvPr/>
        </p:nvSpPr>
        <p:spPr>
          <a:xfrm>
            <a:off x="8356600" y="27686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03</a:t>
            </a:r>
            <a:endParaRPr lang="en-US" sz="1200"/>
          </a:p>
        </p:txBody>
      </p:sp>
      <p:sp>
        <p:nvSpPr>
          <p:cNvPr id="15" name="Text 15"/>
          <p:cNvSpPr txBox="1"/>
          <p:nvPr/>
        </p:nvSpPr>
        <p:spPr>
          <a:xfrm>
            <a:off x="8356600" y="31115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Dry &amp; measure</a:t>
            </a:r>
            <a:endParaRPr lang="en-US" sz="2200"/>
          </a:p>
        </p:txBody>
      </p:sp>
      <p:sp>
        <p:nvSpPr>
          <p:cNvPr id="16" name="Panel 16"/>
          <p:cNvSpPr/>
          <p:nvPr/>
        </p:nvSpPr>
        <p:spPr>
          <a:xfrm>
            <a:off x="635000" y="4038600"/>
            <a:ext cx="3505200" cy="1168400"/>
          </a:xfrm>
          <a:prstGeom prst="rect">
            <a:avLst/>
          </a:prstGeom>
          <a:solidFill>
            <a:srgbClr val="2B6941"/>
          </a:solidFill>
          <a:ln>
            <a:noFill/>
          </a:ln>
        </p:spPr>
      </p:sp>
      <p:sp>
        <p:nvSpPr>
          <p:cNvPr id="17" name="Text 17"/>
          <p:cNvSpPr txBox="1"/>
          <p:nvPr/>
        </p:nvSpPr>
        <p:spPr>
          <a:xfrm>
            <a:off x="838200" y="41910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04</a:t>
            </a:r>
            <a:endParaRPr lang="en-US" sz="1200"/>
          </a:p>
        </p:txBody>
      </p:sp>
      <p:sp>
        <p:nvSpPr>
          <p:cNvPr id="18" name="Text 18"/>
          <p:cNvSpPr txBox="1"/>
          <p:nvPr/>
        </p:nvSpPr>
        <p:spPr>
          <a:xfrm>
            <a:off x="838200" y="45339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Assess &amp; review</a:t>
            </a:r>
            <a:endParaRPr lang="en-US" sz="2200"/>
          </a:p>
        </p:txBody>
      </p:sp>
      <p:sp>
        <p:nvSpPr>
          <p:cNvPr id="19" name="Panel 19"/>
          <p:cNvSpPr/>
          <p:nvPr/>
        </p:nvSpPr>
        <p:spPr>
          <a:xfrm>
            <a:off x="4394200" y="4038600"/>
            <a:ext cx="3505200" cy="1168400"/>
          </a:xfrm>
          <a:prstGeom prst="rect">
            <a:avLst/>
          </a:prstGeom>
          <a:solidFill>
            <a:srgbClr val="2B6941"/>
          </a:solidFill>
          <a:ln>
            <a:noFill/>
          </a:ln>
        </p:spPr>
      </p:sp>
      <p:sp>
        <p:nvSpPr>
          <p:cNvPr id="20" name="Text 20"/>
          <p:cNvSpPr txBox="1"/>
          <p:nvPr/>
        </p:nvSpPr>
        <p:spPr>
          <a:xfrm>
            <a:off x="4597400" y="41910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05</a:t>
            </a:r>
            <a:endParaRPr lang="en-US" sz="1200"/>
          </a:p>
        </p:txBody>
      </p:sp>
      <p:sp>
        <p:nvSpPr>
          <p:cNvPr id="21" name="Text 21"/>
          <p:cNvSpPr txBox="1"/>
          <p:nvPr/>
        </p:nvSpPr>
        <p:spPr>
          <a:xfrm>
            <a:off x="4597400" y="45339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Store &amp; hand over</a:t>
            </a:r>
            <a:endParaRPr lang="en-US" sz="2200"/>
          </a:p>
        </p:txBody>
      </p:sp>
      <p:sp>
        <p:nvSpPr>
          <p:cNvPr id="22" name="Panel 22"/>
          <p:cNvSpPr/>
          <p:nvPr/>
        </p:nvSpPr>
        <p:spPr>
          <a:xfrm>
            <a:off x="8153400" y="4038600"/>
            <a:ext cx="3505200" cy="1168400"/>
          </a:xfrm>
          <a:prstGeom prst="rect">
            <a:avLst/>
          </a:prstGeom>
          <a:solidFill>
            <a:srgbClr val="2B6941"/>
          </a:solidFill>
          <a:ln>
            <a:noFill/>
          </a:ln>
        </p:spPr>
      </p:sp>
      <p:sp>
        <p:nvSpPr>
          <p:cNvPr id="23" name="Text 23"/>
          <p:cNvSpPr txBox="1"/>
          <p:nvPr/>
        </p:nvSpPr>
        <p:spPr>
          <a:xfrm>
            <a:off x="8356600" y="4191000"/>
            <a:ext cx="571500" cy="254000"/>
          </a:xfrm>
          <a:prstGeom prst="rect">
            <a:avLst/>
          </a:prstGeom>
          <a:noFill/>
          <a:ln>
            <a:noFill/>
          </a:ln>
        </p:spPr>
        <p:txBody>
          <a:bodyPr wrap="square" lIns="0" rIns="0" tIns="0" bIns="0" anchor="t">
            <a:noAutofit/>
          </a:bodyPr>
          <a:lstStyle/>
          <a:p>
            <a:pPr>
              <a:spcAft>
                <a:spcPts val="800"/>
              </a:spcAft>
            </a:pPr>
            <a:r>
              <a:rPr lang="en-US" sz="1200" b="1">
                <a:solidFill>
                  <a:srgbClr val="C7AA60"/>
                </a:solidFill>
                <a:latin typeface="Segoe UI"/>
              </a:rPr>
              <a:t xml:space="preserve">06</a:t>
            </a:r>
            <a:endParaRPr lang="en-US" sz="1200"/>
          </a:p>
        </p:txBody>
      </p:sp>
      <p:sp>
        <p:nvSpPr>
          <p:cNvPr id="24" name="Text 24"/>
          <p:cNvSpPr txBox="1"/>
          <p:nvPr/>
        </p:nvSpPr>
        <p:spPr>
          <a:xfrm>
            <a:off x="8356600" y="4533900"/>
            <a:ext cx="3124200" cy="508000"/>
          </a:xfrm>
          <a:prstGeom prst="rect">
            <a:avLst/>
          </a:prstGeom>
          <a:noFill/>
          <a:ln>
            <a:noFill/>
          </a:ln>
        </p:spPr>
        <p:txBody>
          <a:bodyPr wrap="square" lIns="0" rIns="0" tIns="0" bIns="0" anchor="t">
            <a:noAutofit/>
          </a:bodyPr>
          <a:lstStyle/>
          <a:p>
            <a:pPr>
              <a:spcAft>
                <a:spcPts val="800"/>
              </a:spcAft>
            </a:pPr>
            <a:r>
              <a:rPr lang="en-US" sz="2200" b="1">
                <a:solidFill>
                  <a:srgbClr val="F5F4E9"/>
                </a:solidFill>
                <a:latin typeface="Segoe UI"/>
              </a:rPr>
              <a:t xml:space="preserve">Sell &amp; learn</a:t>
            </a:r>
            <a:endParaRPr lang="en-US" sz="2200"/>
          </a:p>
        </p:txBody>
      </p:sp>
      <p:sp>
        <p:nvSpPr>
          <p:cNvPr id="25" name="Text 25"/>
          <p:cNvSpPr txBox="1"/>
          <p:nvPr/>
        </p:nvSpPr>
        <p:spPr>
          <a:xfrm>
            <a:off x="635000" y="5791200"/>
            <a:ext cx="10795000" cy="381000"/>
          </a:xfrm>
          <a:prstGeom prst="rect">
            <a:avLst/>
          </a:prstGeom>
          <a:noFill/>
          <a:ln>
            <a:noFill/>
          </a:ln>
        </p:spPr>
        <p:txBody>
          <a:bodyPr wrap="square" lIns="0" rIns="0" tIns="0" bIns="0" anchor="t">
            <a:noAutofit/>
          </a:bodyPr>
          <a:lstStyle/>
          <a:p>
            <a:pPr>
              <a:spcAft>
                <a:spcPts val="800"/>
              </a:spcAft>
            </a:pPr>
            <a:r>
              <a:rPr lang="en-US" sz="1700" b="0">
                <a:solidFill>
                  <a:srgbClr val="CBDAC7"/>
                </a:solidFill>
                <a:latin typeface="Segoe UI"/>
              </a:rPr>
              <a:t xml:space="preserve">Farm provenance stays connected to the post-harvest record.</a:t>
            </a:r>
            <a:endParaRPr lang="en-US" sz="17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04 · THE WORKING PROTOTYPE</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05</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40 sec</a:t>
            </a:r>
            <a:endParaRPr lang="en-US" sz="1000"/>
          </a:p>
        </p:txBody>
      </p:sp>
      <p:sp>
        <p:nvSpPr>
          <p:cNvPr id="6" name="Text 6"/>
          <p:cNvSpPr txBox="1"/>
          <p:nvPr/>
        </p:nvSpPr>
        <p:spPr>
          <a:xfrm>
            <a:off x="635000" y="1016000"/>
            <a:ext cx="10795000" cy="990600"/>
          </a:xfrm>
          <a:prstGeom prst="rect">
            <a:avLst/>
          </a:prstGeom>
          <a:noFill/>
          <a:ln>
            <a:noFill/>
          </a:ln>
        </p:spPr>
        <p:txBody>
          <a:bodyPr wrap="square" lIns="0" rIns="0" tIns="0" bIns="0" anchor="t">
            <a:noAutofit/>
          </a:bodyPr>
          <a:lstStyle/>
          <a:p>
            <a:pPr>
              <a:spcAft>
                <a:spcPts val="800"/>
              </a:spcAft>
            </a:pPr>
            <a:r>
              <a:rPr lang="en-US" sz="3300" b="1">
                <a:solidFill>
                  <a:srgbClr val="203A2A"/>
                </a:solidFill>
                <a:latin typeface="Segoe UI"/>
              </a:rPr>
              <a:t xml:space="preserve">A workspace for observations and decisions.</a:t>
            </a:r>
            <a:endParaRPr lang="en-US" sz="3300"/>
          </a:p>
        </p:txBody>
      </p:sp>
      <p:sp>
        <p:nvSpPr>
          <p:cNvPr id="7" name="Panel 7"/>
          <p:cNvSpPr/>
          <p:nvPr/>
        </p:nvSpPr>
        <p:spPr>
          <a:xfrm>
            <a:off x="660400" y="2451100"/>
            <a:ext cx="76200" cy="76200"/>
          </a:xfrm>
          <a:prstGeom prst="rect">
            <a:avLst/>
          </a:prstGeom>
          <a:solidFill>
            <a:srgbClr val="C7AA60"/>
          </a:solidFill>
          <a:ln>
            <a:noFill/>
          </a:ln>
        </p:spPr>
      </p:sp>
      <p:sp>
        <p:nvSpPr>
          <p:cNvPr id="8" name="Text 8"/>
          <p:cNvSpPr txBox="1"/>
          <p:nvPr/>
        </p:nvSpPr>
        <p:spPr>
          <a:xfrm>
            <a:off x="939800" y="2336800"/>
            <a:ext cx="4356100" cy="711200"/>
          </a:xfrm>
          <a:prstGeom prst="rect">
            <a:avLst/>
          </a:prstGeom>
          <a:noFill/>
          <a:ln>
            <a:noFill/>
          </a:ln>
        </p:spPr>
        <p:txBody>
          <a:bodyPr wrap="square" lIns="0" rIns="0" tIns="0" bIns="0" anchor="t">
            <a:noAutofit/>
          </a:bodyPr>
          <a:lstStyle/>
          <a:p>
            <a:pPr>
              <a:spcAft>
                <a:spcPts val="800"/>
              </a:spcAft>
            </a:pPr>
            <a:r>
              <a:rPr lang="en-US" sz="2000" b="0">
                <a:solidFill>
                  <a:srgbClr val="203A2A"/>
                </a:solidFill>
                <a:latin typeface="Segoe UI"/>
              </a:rPr>
              <a:t xml:space="preserve">Buyer/adviser-agreed protocol</a:t>
            </a:r>
            <a:endParaRPr lang="en-US" sz="2000"/>
          </a:p>
        </p:txBody>
      </p:sp>
      <p:sp>
        <p:nvSpPr>
          <p:cNvPr id="9" name="Panel 9"/>
          <p:cNvSpPr/>
          <p:nvPr/>
        </p:nvSpPr>
        <p:spPr>
          <a:xfrm>
            <a:off x="660400" y="3263900"/>
            <a:ext cx="76200" cy="76200"/>
          </a:xfrm>
          <a:prstGeom prst="rect">
            <a:avLst/>
          </a:prstGeom>
          <a:solidFill>
            <a:srgbClr val="C7AA60"/>
          </a:solidFill>
          <a:ln>
            <a:noFill/>
          </a:ln>
        </p:spPr>
      </p:sp>
      <p:sp>
        <p:nvSpPr>
          <p:cNvPr id="10" name="Text 10"/>
          <p:cNvSpPr txBox="1"/>
          <p:nvPr/>
        </p:nvSpPr>
        <p:spPr>
          <a:xfrm>
            <a:off x="939800" y="3149600"/>
            <a:ext cx="4356100" cy="711200"/>
          </a:xfrm>
          <a:prstGeom prst="rect">
            <a:avLst/>
          </a:prstGeom>
          <a:noFill/>
          <a:ln>
            <a:noFill/>
          </a:ln>
        </p:spPr>
        <p:txBody>
          <a:bodyPr wrap="square" lIns="0" rIns="0" tIns="0" bIns="0" anchor="t">
            <a:noAutofit/>
          </a:bodyPr>
          <a:lstStyle/>
          <a:p>
            <a:pPr>
              <a:spcAft>
                <a:spcPts val="800"/>
              </a:spcAft>
            </a:pPr>
            <a:r>
              <a:rPr lang="en-US" sz="2000" b="0">
                <a:solidFill>
                  <a:srgbClr val="203A2A"/>
                </a:solidFill>
                <a:latin typeface="Segoe UI"/>
              </a:rPr>
              <a:t xml:space="preserve">Temperature, turning and moisture records</a:t>
            </a:r>
            <a:endParaRPr lang="en-US" sz="2000"/>
          </a:p>
        </p:txBody>
      </p:sp>
      <p:sp>
        <p:nvSpPr>
          <p:cNvPr id="11" name="Panel 11"/>
          <p:cNvSpPr/>
          <p:nvPr/>
        </p:nvSpPr>
        <p:spPr>
          <a:xfrm>
            <a:off x="660400" y="4076700"/>
            <a:ext cx="76200" cy="76200"/>
          </a:xfrm>
          <a:prstGeom prst="rect">
            <a:avLst/>
          </a:prstGeom>
          <a:solidFill>
            <a:srgbClr val="C7AA60"/>
          </a:solidFill>
          <a:ln>
            <a:noFill/>
          </a:ln>
        </p:spPr>
      </p:sp>
      <p:sp>
        <p:nvSpPr>
          <p:cNvPr id="12" name="Text 12"/>
          <p:cNvSpPr txBox="1"/>
          <p:nvPr/>
        </p:nvSpPr>
        <p:spPr>
          <a:xfrm>
            <a:off x="939800" y="3962400"/>
            <a:ext cx="4356100" cy="711200"/>
          </a:xfrm>
          <a:prstGeom prst="rect">
            <a:avLst/>
          </a:prstGeom>
          <a:noFill/>
          <a:ln>
            <a:noFill/>
          </a:ln>
        </p:spPr>
        <p:txBody>
          <a:bodyPr wrap="square" lIns="0" rIns="0" tIns="0" bIns="0" anchor="t">
            <a:noAutofit/>
          </a:bodyPr>
          <a:lstStyle/>
          <a:p>
            <a:pPr>
              <a:spcAft>
                <a:spcPts val="800"/>
              </a:spcAft>
            </a:pPr>
            <a:r>
              <a:rPr lang="en-US" sz="2000" b="0">
                <a:solidFill>
                  <a:srgbClr val="203A2A"/>
                </a:solidFill>
                <a:latin typeface="Segoe UI"/>
              </a:rPr>
              <a:t xml:space="preserve">Quality observations and staff-recorded grades</a:t>
            </a:r>
            <a:endParaRPr lang="en-US" sz="2000"/>
          </a:p>
        </p:txBody>
      </p:sp>
      <p:sp>
        <p:nvSpPr>
          <p:cNvPr id="13" name="Panel 13"/>
          <p:cNvSpPr/>
          <p:nvPr/>
        </p:nvSpPr>
        <p:spPr>
          <a:xfrm>
            <a:off x="660400" y="4889500"/>
            <a:ext cx="76200" cy="76200"/>
          </a:xfrm>
          <a:prstGeom prst="rect">
            <a:avLst/>
          </a:prstGeom>
          <a:solidFill>
            <a:srgbClr val="C7AA60"/>
          </a:solidFill>
          <a:ln>
            <a:noFill/>
          </a:ln>
        </p:spPr>
      </p:sp>
      <p:sp>
        <p:nvSpPr>
          <p:cNvPr id="14" name="Text 14"/>
          <p:cNvSpPr txBox="1"/>
          <p:nvPr/>
        </p:nvSpPr>
        <p:spPr>
          <a:xfrm>
            <a:off x="939800" y="4775200"/>
            <a:ext cx="4356100" cy="711200"/>
          </a:xfrm>
          <a:prstGeom prst="rect">
            <a:avLst/>
          </a:prstGeom>
          <a:noFill/>
          <a:ln>
            <a:noFill/>
          </a:ln>
        </p:spPr>
        <p:txBody>
          <a:bodyPr wrap="square" lIns="0" rIns="0" tIns="0" bIns="0" anchor="t">
            <a:noAutofit/>
          </a:bodyPr>
          <a:lstStyle/>
          <a:p>
            <a:pPr>
              <a:spcAft>
                <a:spcPts val="800"/>
              </a:spcAft>
            </a:pPr>
            <a:r>
              <a:rPr lang="en-US" sz="2000" b="0">
                <a:solidFill>
                  <a:srgbClr val="203A2A"/>
                </a:solidFill>
                <a:latin typeface="Segoe UI"/>
              </a:rPr>
              <a:t xml:space="preserve">Costs, handovers and correction history</a:t>
            </a:r>
            <a:endParaRPr lang="en-US" sz="2000"/>
          </a:p>
        </p:txBody>
      </p:sp>
      <p:pic>
        <p:nvPicPr>
          <p:cNvPr id="15" name="Embedded image"/>
          <p:cNvPicPr>
            <a:picLocks noChangeAspect="1"/>
          </p:cNvPicPr>
          <p:nvPr/>
        </p:nvPicPr>
        <p:blipFill>
          <a:blip r:embed="rIdImage2"/>
          <a:stretch>
            <a:fillRect/>
          </a:stretch>
        </p:blipFill>
        <p:spPr>
          <a:xfrm>
            <a:off x="5695950" y="2222500"/>
            <a:ext cx="5689600" cy="3467100"/>
          </a:xfrm>
          <a:prstGeom prst="rect">
            <a:avLst/>
          </a:prstGeom>
        </p:spPr>
      </p:pic>
      <p:sp>
        <p:nvSpPr>
          <p:cNvPr id="16" name="Text 16"/>
          <p:cNvSpPr txBox="1"/>
          <p:nvPr/>
        </p:nvSpPr>
        <p:spPr>
          <a:xfrm>
            <a:off x="635000" y="6057900"/>
            <a:ext cx="10922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Illustrative screen uses isolated fictional fixtures. No live farmer data.</a:t>
            </a:r>
            <a:endParaRPr lang="en-US" sz="10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05 · QUALITY NEEDS SUPPORTING RECORDS</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06</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30 sec</a:t>
            </a:r>
            <a:endParaRPr lang="en-US" sz="1000"/>
          </a:p>
        </p:txBody>
      </p:sp>
      <p:sp>
        <p:nvSpPr>
          <p:cNvPr id="6" name="Text 6"/>
          <p:cNvSpPr txBox="1"/>
          <p:nvPr/>
        </p:nvSpPr>
        <p:spPr>
          <a:xfrm>
            <a:off x="635000" y="1041400"/>
            <a:ext cx="10922000" cy="1270000"/>
          </a:xfrm>
          <a:prstGeom prst="rect">
            <a:avLst/>
          </a:prstGeom>
          <a:noFill/>
          <a:ln>
            <a:noFill/>
          </a:ln>
        </p:spPr>
        <p:txBody>
          <a:bodyPr wrap="square" lIns="0" rIns="0" tIns="0" bIns="0" anchor="t">
            <a:noAutofit/>
          </a:bodyPr>
          <a:lstStyle/>
          <a:p>
            <a:pPr>
              <a:spcAft>
                <a:spcPts val="800"/>
              </a:spcAft>
            </a:pPr>
            <a:r>
              <a:rPr lang="en-US" sz="3500" b="1">
                <a:solidFill>
                  <a:srgbClr val="203A2A"/>
                </a:solidFill>
                <a:latin typeface="Segoe UI"/>
              </a:rPr>
              <a:t xml:space="preserve">A pass label is not enough.</a:t>
            </a:r>
            <a:endParaRPr lang="en-US" sz="3500"/>
          </a:p>
        </p:txBody>
      </p:sp>
      <p:sp>
        <p:nvSpPr>
          <p:cNvPr id="7" name="Panel 7"/>
          <p:cNvSpPr/>
          <p:nvPr/>
        </p:nvSpPr>
        <p:spPr>
          <a:xfrm>
            <a:off x="762000" y="2717800"/>
            <a:ext cx="76200" cy="76200"/>
          </a:xfrm>
          <a:prstGeom prst="rect">
            <a:avLst/>
          </a:prstGeom>
          <a:solidFill>
            <a:srgbClr val="C7AA60"/>
          </a:solidFill>
          <a:ln>
            <a:noFill/>
          </a:ln>
        </p:spPr>
      </p:sp>
      <p:sp>
        <p:nvSpPr>
          <p:cNvPr id="8" name="Text 8"/>
          <p:cNvSpPr txBox="1"/>
          <p:nvPr/>
        </p:nvSpPr>
        <p:spPr>
          <a:xfrm>
            <a:off x="1041400" y="26035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Agreed protocol and actual fermentation start</a:t>
            </a:r>
            <a:endParaRPr lang="en-US" sz="2300"/>
          </a:p>
        </p:txBody>
      </p:sp>
      <p:sp>
        <p:nvSpPr>
          <p:cNvPr id="9" name="Panel 9"/>
          <p:cNvSpPr/>
          <p:nvPr/>
        </p:nvSpPr>
        <p:spPr>
          <a:xfrm>
            <a:off x="762000" y="3505200"/>
            <a:ext cx="76200" cy="76200"/>
          </a:xfrm>
          <a:prstGeom prst="rect">
            <a:avLst/>
          </a:prstGeom>
          <a:solidFill>
            <a:srgbClr val="C7AA60"/>
          </a:solidFill>
          <a:ln>
            <a:noFill/>
          </a:ln>
        </p:spPr>
      </p:sp>
      <p:sp>
        <p:nvSpPr>
          <p:cNvPr id="10" name="Text 10"/>
          <p:cNvSpPr txBox="1"/>
          <p:nvPr/>
        </p:nvSpPr>
        <p:spPr>
          <a:xfrm>
            <a:off x="1041400" y="33909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Cut-test sample, moisture and reviewer reference</a:t>
            </a:r>
            <a:endParaRPr lang="en-US" sz="2300"/>
          </a:p>
        </p:txBody>
      </p:sp>
      <p:sp>
        <p:nvSpPr>
          <p:cNvPr id="11" name="Panel 11"/>
          <p:cNvSpPr/>
          <p:nvPr/>
        </p:nvSpPr>
        <p:spPr>
          <a:xfrm>
            <a:off x="762000" y="4292600"/>
            <a:ext cx="76200" cy="76200"/>
          </a:xfrm>
          <a:prstGeom prst="rect">
            <a:avLst/>
          </a:prstGeom>
          <a:solidFill>
            <a:srgbClr val="C7AA60"/>
          </a:solidFill>
          <a:ln>
            <a:noFill/>
          </a:ln>
        </p:spPr>
      </p:sp>
      <p:sp>
        <p:nvSpPr>
          <p:cNvPr id="12" name="Text 12"/>
          <p:cNvSpPr txBox="1"/>
          <p:nvPr/>
        </p:nvSpPr>
        <p:spPr>
          <a:xfrm>
            <a:off x="1041400" y="41783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Recorded results must meet the batch limits before storage</a:t>
            </a:r>
            <a:endParaRPr lang="en-US" sz="2300"/>
          </a:p>
        </p:txBody>
      </p:sp>
      <p:sp>
        <p:nvSpPr>
          <p:cNvPr id="13" name="Panel 13"/>
          <p:cNvSpPr/>
          <p:nvPr/>
        </p:nvSpPr>
        <p:spPr>
          <a:xfrm>
            <a:off x="762000" y="5080000"/>
            <a:ext cx="76200" cy="76200"/>
          </a:xfrm>
          <a:prstGeom prst="rect">
            <a:avLst/>
          </a:prstGeom>
          <a:solidFill>
            <a:srgbClr val="C7AA60"/>
          </a:solidFill>
          <a:ln>
            <a:noFill/>
          </a:ln>
        </p:spPr>
      </p:sp>
      <p:sp>
        <p:nvSpPr>
          <p:cNvPr id="14" name="Text 14"/>
          <p:cNvSpPr txBox="1"/>
          <p:nvPr/>
        </p:nvSpPr>
        <p:spPr>
          <a:xfrm>
            <a:off x="1041400" y="49657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No automatic certification or guaranteed premium price</a:t>
            </a:r>
            <a:endParaRPr lang="en-US" sz="2300"/>
          </a:p>
        </p:txBody>
      </p:sp>
      <p:sp>
        <p:nvSpPr>
          <p:cNvPr id="15" name="Text 15"/>
          <p:cNvSpPr txBox="1"/>
          <p:nvPr/>
        </p:nvSpPr>
        <p:spPr>
          <a:xfrm>
            <a:off x="762000" y="5829300"/>
            <a:ext cx="10541000" cy="444500"/>
          </a:xfrm>
          <a:prstGeom prst="rect">
            <a:avLst/>
          </a:prstGeom>
          <a:noFill/>
          <a:ln>
            <a:noFill/>
          </a:ln>
        </p:spPr>
        <p:txBody>
          <a:bodyPr wrap="square" lIns="0" rIns="0" tIns="0" bIns="0" anchor="t">
            <a:noAutofit/>
          </a:bodyPr>
          <a:lstStyle/>
          <a:p>
            <a:pPr>
              <a:spcAft>
                <a:spcPts val="800"/>
              </a:spcAft>
            </a:pPr>
            <a:r>
              <a:rPr lang="en-US" sz="1500" b="0">
                <a:solidFill>
                  <a:srgbClr val="526657"/>
                </a:solidFill>
                <a:latin typeface="Segoe UI"/>
              </a:rPr>
              <a:t xml:space="preserve">Access stays scoped to the farmer and assigned staff.</a:t>
            </a:r>
            <a:endParaRPr lang="en-US" sz="15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06 · HOW WE WOULD TEST IT</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07</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35 sec</a:t>
            </a:r>
            <a:endParaRPr lang="en-US" sz="1000"/>
          </a:p>
        </p:txBody>
      </p:sp>
      <p:sp>
        <p:nvSpPr>
          <p:cNvPr id="6" name="Text 6"/>
          <p:cNvSpPr txBox="1"/>
          <p:nvPr/>
        </p:nvSpPr>
        <p:spPr>
          <a:xfrm>
            <a:off x="635000" y="1041400"/>
            <a:ext cx="10795000" cy="1143000"/>
          </a:xfrm>
          <a:prstGeom prst="rect">
            <a:avLst/>
          </a:prstGeom>
          <a:noFill/>
          <a:ln>
            <a:noFill/>
          </a:ln>
        </p:spPr>
        <p:txBody>
          <a:bodyPr wrap="square" lIns="0" rIns="0" tIns="0" bIns="0" anchor="t">
            <a:noAutofit/>
          </a:bodyPr>
          <a:lstStyle/>
          <a:p>
            <a:pPr>
              <a:spcAft>
                <a:spcPts val="800"/>
              </a:spcAft>
            </a:pPr>
            <a:r>
              <a:rPr lang="en-US" sz="3400" b="1">
                <a:solidFill>
                  <a:srgbClr val="203A2A"/>
                </a:solidFill>
                <a:latin typeface="Segoe UI"/>
              </a:rPr>
              <a:t xml:space="preserve">A small pilot. Clearly defined measures.</a:t>
            </a:r>
            <a:endParaRPr lang="en-US" sz="3400"/>
          </a:p>
        </p:txBody>
      </p:sp>
      <p:sp>
        <p:nvSpPr>
          <p:cNvPr id="7" name="Panel 7"/>
          <p:cNvSpPr/>
          <p:nvPr/>
        </p:nvSpPr>
        <p:spPr>
          <a:xfrm>
            <a:off x="635000" y="2476500"/>
            <a:ext cx="3810000" cy="2921000"/>
          </a:xfrm>
          <a:prstGeom prst="rect">
            <a:avLst/>
          </a:prstGeom>
          <a:solidFill>
            <a:srgbClr val="163D2A"/>
          </a:solidFill>
          <a:ln>
            <a:noFill/>
          </a:ln>
        </p:spPr>
      </p:sp>
      <p:sp>
        <p:nvSpPr>
          <p:cNvPr id="8" name="Text 8"/>
          <p:cNvSpPr txBox="1"/>
          <p:nvPr/>
        </p:nvSpPr>
        <p:spPr>
          <a:xfrm>
            <a:off x="952500" y="2844800"/>
            <a:ext cx="3175000" cy="1143000"/>
          </a:xfrm>
          <a:prstGeom prst="rect">
            <a:avLst/>
          </a:prstGeom>
          <a:noFill/>
          <a:ln>
            <a:noFill/>
          </a:ln>
        </p:spPr>
        <p:txBody>
          <a:bodyPr wrap="square" lIns="0" rIns="0" tIns="0" bIns="0" anchor="t">
            <a:noAutofit/>
          </a:bodyPr>
          <a:lstStyle/>
          <a:p>
            <a:pPr>
              <a:spcAft>
                <a:spcPts val="800"/>
              </a:spcAft>
            </a:pPr>
            <a:r>
              <a:rPr lang="en-US" sz="5800" b="1">
                <a:solidFill>
                  <a:srgbClr val="C7AA60"/>
                </a:solidFill>
                <a:latin typeface="Segoe UI"/>
              </a:rPr>
              <a:t xml:space="preserve">3–5</a:t>
            </a:r>
            <a:endParaRPr lang="en-US" sz="5800"/>
          </a:p>
        </p:txBody>
      </p:sp>
      <p:sp>
        <p:nvSpPr>
          <p:cNvPr id="9" name="Text 9"/>
          <p:cNvSpPr txBox="1"/>
          <p:nvPr/>
        </p:nvSpPr>
        <p:spPr>
          <a:xfrm>
            <a:off x="952500" y="4140200"/>
            <a:ext cx="3175000" cy="965200"/>
          </a:xfrm>
          <a:prstGeom prst="rect">
            <a:avLst/>
          </a:prstGeom>
          <a:noFill/>
          <a:ln>
            <a:noFill/>
          </a:ln>
        </p:spPr>
        <p:txBody>
          <a:bodyPr wrap="square" lIns="0" rIns="0" tIns="0" bIns="0" anchor="t">
            <a:noAutofit/>
          </a:bodyPr>
          <a:lstStyle/>
          <a:p>
            <a:pPr>
              <a:spcAft>
                <a:spcPts val="800"/>
              </a:spcAft>
            </a:pPr>
            <a:r>
              <a:rPr lang="en-US" sz="1700" b="0">
                <a:solidFill>
                  <a:srgbClr val="F5F4E9"/>
                </a:solidFill>
                <a:latin typeface="Segoe UI"/>
              </a:rPr>
              <a:t xml:space="preserve">farmers · 1 cooperative · proposed 6–8 weeks</a:t>
            </a:r>
            <a:endParaRPr lang="en-US" sz="1700"/>
          </a:p>
        </p:txBody>
      </p:sp>
      <p:sp>
        <p:nvSpPr>
          <p:cNvPr id="10" name="Panel 10"/>
          <p:cNvSpPr/>
          <p:nvPr/>
        </p:nvSpPr>
        <p:spPr>
          <a:xfrm>
            <a:off x="4953000" y="2717800"/>
            <a:ext cx="76200" cy="76200"/>
          </a:xfrm>
          <a:prstGeom prst="rect">
            <a:avLst/>
          </a:prstGeom>
          <a:solidFill>
            <a:srgbClr val="C7AA60"/>
          </a:solidFill>
          <a:ln>
            <a:noFill/>
          </a:ln>
        </p:spPr>
      </p:sp>
      <p:sp>
        <p:nvSpPr>
          <p:cNvPr id="11" name="Text 11"/>
          <p:cNvSpPr txBox="1"/>
          <p:nvPr/>
        </p:nvSpPr>
        <p:spPr>
          <a:xfrm>
            <a:off x="5232400" y="26035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Record completeness and missed checks</a:t>
            </a:r>
            <a:endParaRPr lang="en-US" sz="2100"/>
          </a:p>
        </p:txBody>
      </p:sp>
      <p:sp>
        <p:nvSpPr>
          <p:cNvPr id="12" name="Panel 12"/>
          <p:cNvSpPr/>
          <p:nvPr/>
        </p:nvSpPr>
        <p:spPr>
          <a:xfrm>
            <a:off x="4953000" y="3543300"/>
            <a:ext cx="76200" cy="76200"/>
          </a:xfrm>
          <a:prstGeom prst="rect">
            <a:avLst/>
          </a:prstGeom>
          <a:solidFill>
            <a:srgbClr val="C7AA60"/>
          </a:solidFill>
          <a:ln>
            <a:noFill/>
          </a:ln>
        </p:spPr>
      </p:sp>
      <p:sp>
        <p:nvSpPr>
          <p:cNvPr id="13" name="Text 13"/>
          <p:cNvSpPr txBox="1"/>
          <p:nvPr/>
        </p:nvSpPr>
        <p:spPr>
          <a:xfrm>
            <a:off x="5232400" y="34290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Downgraded/rejected weight share</a:t>
            </a:r>
            <a:endParaRPr lang="en-US" sz="2100"/>
          </a:p>
        </p:txBody>
      </p:sp>
      <p:sp>
        <p:nvSpPr>
          <p:cNvPr id="14" name="Panel 14"/>
          <p:cNvSpPr/>
          <p:nvPr/>
        </p:nvSpPr>
        <p:spPr>
          <a:xfrm>
            <a:off x="4953000" y="4368800"/>
            <a:ext cx="76200" cy="76200"/>
          </a:xfrm>
          <a:prstGeom prst="rect">
            <a:avLst/>
          </a:prstGeom>
          <a:solidFill>
            <a:srgbClr val="C7AA60"/>
          </a:solidFill>
          <a:ln>
            <a:noFill/>
          </a:ln>
        </p:spPr>
      </p:sp>
      <p:sp>
        <p:nvSpPr>
          <p:cNvPr id="15" name="Text 15"/>
          <p:cNvSpPr txBox="1"/>
          <p:nvPr/>
        </p:nvSpPr>
        <p:spPr>
          <a:xfrm>
            <a:off x="5232400" y="42545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Recorded selling price per kg</a:t>
            </a:r>
            <a:endParaRPr lang="en-US" sz="2100"/>
          </a:p>
        </p:txBody>
      </p:sp>
      <p:sp>
        <p:nvSpPr>
          <p:cNvPr id="16" name="Panel 16"/>
          <p:cNvSpPr/>
          <p:nvPr/>
        </p:nvSpPr>
        <p:spPr>
          <a:xfrm>
            <a:off x="4953000" y="5194300"/>
            <a:ext cx="76200" cy="76200"/>
          </a:xfrm>
          <a:prstGeom prst="rect">
            <a:avLst/>
          </a:prstGeom>
          <a:solidFill>
            <a:srgbClr val="C7AA60"/>
          </a:solidFill>
          <a:ln>
            <a:noFill/>
          </a:ln>
        </p:spPr>
      </p:sp>
      <p:sp>
        <p:nvSpPr>
          <p:cNvPr id="17" name="Text 17"/>
          <p:cNvSpPr txBox="1"/>
          <p:nvPr/>
        </p:nvSpPr>
        <p:spPr>
          <a:xfrm>
            <a:off x="5232400" y="5080000"/>
            <a:ext cx="6197600" cy="723900"/>
          </a:xfrm>
          <a:prstGeom prst="rect">
            <a:avLst/>
          </a:prstGeom>
          <a:noFill/>
          <a:ln>
            <a:noFill/>
          </a:ln>
        </p:spPr>
        <p:txBody>
          <a:bodyPr wrap="square" lIns="0" rIns="0" tIns="0" bIns="0" anchor="t">
            <a:noAutofit/>
          </a:bodyPr>
          <a:lstStyle/>
          <a:p>
            <a:pPr>
              <a:spcAft>
                <a:spcPts val="800"/>
              </a:spcAft>
            </a:pPr>
            <a:r>
              <a:rPr lang="en-US" sz="2100" b="0">
                <a:solidFill>
                  <a:srgbClr val="203A2A"/>
                </a:solidFill>
                <a:latin typeface="Segoe UI"/>
              </a:rPr>
              <a:t xml:space="preserve">Sales less logged post-harvest costs</a:t>
            </a:r>
            <a:endParaRPr lang="en-US" sz="2100"/>
          </a:p>
        </p:txBody>
      </p:sp>
      <p:sp>
        <p:nvSpPr>
          <p:cNvPr id="18" name="Text 18"/>
          <p:cNvSpPr txBox="1"/>
          <p:nvPr/>
        </p:nvSpPr>
        <p:spPr>
          <a:xfrm>
            <a:off x="635000" y="6057900"/>
            <a:ext cx="10922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Proposed pilot design, not confirmed participation or measured impact.</a:t>
            </a:r>
            <a:endParaRPr lang="en-US" sz="10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07 · WHAT EXISTS AND WHAT DOES NOT</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08</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25 sec</a:t>
            </a:r>
            <a:endParaRPr lang="en-US" sz="1000"/>
          </a:p>
        </p:txBody>
      </p:sp>
      <p:sp>
        <p:nvSpPr>
          <p:cNvPr id="6" name="Text 6"/>
          <p:cNvSpPr txBox="1"/>
          <p:nvPr/>
        </p:nvSpPr>
        <p:spPr>
          <a:xfrm>
            <a:off x="635000" y="1041400"/>
            <a:ext cx="10922000" cy="1270000"/>
          </a:xfrm>
          <a:prstGeom prst="rect">
            <a:avLst/>
          </a:prstGeom>
          <a:noFill/>
          <a:ln>
            <a:noFill/>
          </a:ln>
        </p:spPr>
        <p:txBody>
          <a:bodyPr wrap="square" lIns="0" rIns="0" tIns="0" bIns="0" anchor="t">
            <a:noAutofit/>
          </a:bodyPr>
          <a:lstStyle/>
          <a:p>
            <a:pPr>
              <a:spcAft>
                <a:spcPts val="800"/>
              </a:spcAft>
            </a:pPr>
            <a:r>
              <a:rPr lang="en-US" sz="3500" b="1">
                <a:solidFill>
                  <a:srgbClr val="203A2A"/>
                </a:solidFill>
                <a:latin typeface="Segoe UI"/>
              </a:rPr>
              <a:t xml:space="preserve">Be precise about readiness.</a:t>
            </a:r>
            <a:endParaRPr lang="en-US" sz="3500"/>
          </a:p>
        </p:txBody>
      </p:sp>
      <p:sp>
        <p:nvSpPr>
          <p:cNvPr id="7" name="Panel 7"/>
          <p:cNvSpPr/>
          <p:nvPr/>
        </p:nvSpPr>
        <p:spPr>
          <a:xfrm>
            <a:off x="762000" y="2717800"/>
            <a:ext cx="76200" cy="76200"/>
          </a:xfrm>
          <a:prstGeom prst="rect">
            <a:avLst/>
          </a:prstGeom>
          <a:solidFill>
            <a:srgbClr val="C7AA60"/>
          </a:solidFill>
          <a:ln>
            <a:noFill/>
          </a:ln>
        </p:spPr>
      </p:sp>
      <p:sp>
        <p:nvSpPr>
          <p:cNvPr id="8" name="Text 8"/>
          <p:cNvSpPr txBox="1"/>
          <p:nvPr/>
        </p:nvSpPr>
        <p:spPr>
          <a:xfrm>
            <a:off x="1041400" y="26035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Built locally: workflow, measurements, reviews and reports</a:t>
            </a:r>
            <a:endParaRPr lang="en-US" sz="2300"/>
          </a:p>
        </p:txBody>
      </p:sp>
      <p:sp>
        <p:nvSpPr>
          <p:cNvPr id="9" name="Panel 9"/>
          <p:cNvSpPr/>
          <p:nvPr/>
        </p:nvSpPr>
        <p:spPr>
          <a:xfrm>
            <a:off x="762000" y="3505200"/>
            <a:ext cx="76200" cy="76200"/>
          </a:xfrm>
          <a:prstGeom prst="rect">
            <a:avLst/>
          </a:prstGeom>
          <a:solidFill>
            <a:srgbClr val="C7AA60"/>
          </a:solidFill>
          <a:ln>
            <a:noFill/>
          </a:ln>
        </p:spPr>
      </p:sp>
      <p:sp>
        <p:nvSpPr>
          <p:cNvPr id="10" name="Text 10"/>
          <p:cNvSpPr txBox="1"/>
          <p:nvPr/>
        </p:nvSpPr>
        <p:spPr>
          <a:xfrm>
            <a:off x="1041400" y="33909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Verified: code tests and isolated browser scenarios</a:t>
            </a:r>
            <a:endParaRPr lang="en-US" sz="2300"/>
          </a:p>
        </p:txBody>
      </p:sp>
      <p:sp>
        <p:nvSpPr>
          <p:cNvPr id="11" name="Panel 11"/>
          <p:cNvSpPr/>
          <p:nvPr/>
        </p:nvSpPr>
        <p:spPr>
          <a:xfrm>
            <a:off x="762000" y="4292600"/>
            <a:ext cx="76200" cy="76200"/>
          </a:xfrm>
          <a:prstGeom prst="rect">
            <a:avLst/>
          </a:prstGeom>
          <a:solidFill>
            <a:srgbClr val="C7AA60"/>
          </a:solidFill>
          <a:ln>
            <a:noFill/>
          </a:ln>
        </p:spPr>
      </p:sp>
      <p:sp>
        <p:nvSpPr>
          <p:cNvPr id="12" name="Text 12"/>
          <p:cNvSpPr txBox="1"/>
          <p:nvPr/>
        </p:nvSpPr>
        <p:spPr>
          <a:xfrm>
            <a:off x="1041400" y="41783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Still needed: staging migrations and live deployment checks</a:t>
            </a:r>
            <a:endParaRPr lang="en-US" sz="2300"/>
          </a:p>
        </p:txBody>
      </p:sp>
      <p:sp>
        <p:nvSpPr>
          <p:cNvPr id="13" name="Panel 13"/>
          <p:cNvSpPr/>
          <p:nvPr/>
        </p:nvSpPr>
        <p:spPr>
          <a:xfrm>
            <a:off x="762000" y="5080000"/>
            <a:ext cx="76200" cy="76200"/>
          </a:xfrm>
          <a:prstGeom prst="rect">
            <a:avLst/>
          </a:prstGeom>
          <a:solidFill>
            <a:srgbClr val="C7AA60"/>
          </a:solidFill>
          <a:ln>
            <a:noFill/>
          </a:ln>
        </p:spPr>
      </p:sp>
      <p:sp>
        <p:nvSpPr>
          <p:cNvPr id="14" name="Text 14"/>
          <p:cNvSpPr txBox="1"/>
          <p:nvPr/>
        </p:nvSpPr>
        <p:spPr>
          <a:xfrm>
            <a:off x="1041400" y="49657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Still needed: trained reviewers, tools and a farmer pilot</a:t>
            </a:r>
            <a:endParaRPr lang="en-US" sz="2300"/>
          </a:p>
        </p:txBody>
      </p:sp>
      <p:sp>
        <p:nvSpPr>
          <p:cNvPr id="15" name="Text 15"/>
          <p:cNvSpPr txBox="1"/>
          <p:nvPr/>
        </p:nvSpPr>
        <p:spPr>
          <a:xfrm>
            <a:off x="762000" y="5829300"/>
            <a:ext cx="10541000" cy="444500"/>
          </a:xfrm>
          <a:prstGeom prst="rect">
            <a:avLst/>
          </a:prstGeom>
          <a:noFill/>
          <a:ln>
            <a:noFill/>
          </a:ln>
        </p:spPr>
        <p:txBody>
          <a:bodyPr wrap="square" lIns="0" rIns="0" tIns="0" bIns="0" anchor="t">
            <a:noAutofit/>
          </a:bodyPr>
          <a:lstStyle/>
          <a:p>
            <a:pPr>
              <a:spcAft>
                <a:spcPts val="800"/>
              </a:spcAft>
            </a:pPr>
            <a:r>
              <a:rPr lang="en-US" sz="1500" b="0">
                <a:solidFill>
                  <a:srgbClr val="526657"/>
                </a:solidFill>
                <a:latin typeface="Segoe UI"/>
              </a:rPr>
              <a:t xml:space="preserve">No verified income uplift, adoption rate or quality-improvement claim yet.</a:t>
            </a:r>
            <a:endParaRPr lang="en-US" sz="15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08 · RESEARCH LEARNING LOOP</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09</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30 sec</a:t>
            </a:r>
            <a:endParaRPr lang="en-US" sz="1000"/>
          </a:p>
        </p:txBody>
      </p:sp>
      <p:sp>
        <p:nvSpPr>
          <p:cNvPr id="6" name="Text 6"/>
          <p:cNvSpPr txBox="1"/>
          <p:nvPr/>
        </p:nvSpPr>
        <p:spPr>
          <a:xfrm>
            <a:off x="635000" y="1041400"/>
            <a:ext cx="10922000" cy="1270000"/>
          </a:xfrm>
          <a:prstGeom prst="rect">
            <a:avLst/>
          </a:prstGeom>
          <a:noFill/>
          <a:ln>
            <a:noFill/>
          </a:ln>
        </p:spPr>
        <p:txBody>
          <a:bodyPr wrap="square" lIns="0" rIns="0" tIns="0" bIns="0" anchor="t">
            <a:noAutofit/>
          </a:bodyPr>
          <a:lstStyle/>
          <a:p>
            <a:pPr>
              <a:spcAft>
                <a:spcPts val="800"/>
              </a:spcAft>
            </a:pPr>
            <a:r>
              <a:rPr lang="en-US" sz="3500" b="1">
                <a:solidFill>
                  <a:srgbClr val="203A2A"/>
                </a:solidFill>
                <a:latin typeface="Segoe UI"/>
              </a:rPr>
              <a:t xml:space="preserve">Observe. Compare. Reflect. Improve.</a:t>
            </a:r>
            <a:endParaRPr lang="en-US" sz="3500"/>
          </a:p>
        </p:txBody>
      </p:sp>
      <p:sp>
        <p:nvSpPr>
          <p:cNvPr id="7" name="Panel 7"/>
          <p:cNvSpPr/>
          <p:nvPr/>
        </p:nvSpPr>
        <p:spPr>
          <a:xfrm>
            <a:off x="762000" y="2717800"/>
            <a:ext cx="76200" cy="76200"/>
          </a:xfrm>
          <a:prstGeom prst="rect">
            <a:avLst/>
          </a:prstGeom>
          <a:solidFill>
            <a:srgbClr val="C7AA60"/>
          </a:solidFill>
          <a:ln>
            <a:noFill/>
          </a:ln>
        </p:spPr>
      </p:sp>
      <p:sp>
        <p:nvSpPr>
          <p:cNvPr id="8" name="Text 8"/>
          <p:cNvSpPr txBox="1"/>
          <p:nvPr/>
        </p:nvSpPr>
        <p:spPr>
          <a:xfrm>
            <a:off x="1041400" y="26035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Observe actual practice and barriers</a:t>
            </a:r>
            <a:endParaRPr lang="en-US" sz="2300"/>
          </a:p>
        </p:txBody>
      </p:sp>
      <p:sp>
        <p:nvSpPr>
          <p:cNvPr id="9" name="Panel 9"/>
          <p:cNvSpPr/>
          <p:nvPr/>
        </p:nvSpPr>
        <p:spPr>
          <a:xfrm>
            <a:off x="762000" y="3505200"/>
            <a:ext cx="76200" cy="76200"/>
          </a:xfrm>
          <a:prstGeom prst="rect">
            <a:avLst/>
          </a:prstGeom>
          <a:solidFill>
            <a:srgbClr val="C7AA60"/>
          </a:solidFill>
          <a:ln>
            <a:noFill/>
          </a:ln>
        </p:spPr>
      </p:sp>
      <p:sp>
        <p:nvSpPr>
          <p:cNvPr id="10" name="Text 10"/>
          <p:cNvSpPr txBox="1"/>
          <p:nvPr/>
        </p:nvSpPr>
        <p:spPr>
          <a:xfrm>
            <a:off x="1041400" y="33909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Compare records with agreed criteria</a:t>
            </a:r>
            <a:endParaRPr lang="en-US" sz="2300"/>
          </a:p>
        </p:txBody>
      </p:sp>
      <p:sp>
        <p:nvSpPr>
          <p:cNvPr id="11" name="Panel 11"/>
          <p:cNvSpPr/>
          <p:nvPr/>
        </p:nvSpPr>
        <p:spPr>
          <a:xfrm>
            <a:off x="762000" y="4292600"/>
            <a:ext cx="76200" cy="76200"/>
          </a:xfrm>
          <a:prstGeom prst="rect">
            <a:avLst/>
          </a:prstGeom>
          <a:solidFill>
            <a:srgbClr val="C7AA60"/>
          </a:solidFill>
          <a:ln>
            <a:noFill/>
          </a:ln>
        </p:spPr>
      </p:sp>
      <p:sp>
        <p:nvSpPr>
          <p:cNvPr id="12" name="Text 12"/>
          <p:cNvSpPr txBox="1"/>
          <p:nvPr/>
        </p:nvSpPr>
        <p:spPr>
          <a:xfrm>
            <a:off x="1041400" y="41783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Reflect with farmers, staff and buyers</a:t>
            </a:r>
            <a:endParaRPr lang="en-US" sz="2300"/>
          </a:p>
        </p:txBody>
      </p:sp>
      <p:sp>
        <p:nvSpPr>
          <p:cNvPr id="13" name="Panel 13"/>
          <p:cNvSpPr/>
          <p:nvPr/>
        </p:nvSpPr>
        <p:spPr>
          <a:xfrm>
            <a:off x="762000" y="5080000"/>
            <a:ext cx="76200" cy="76200"/>
          </a:xfrm>
          <a:prstGeom prst="rect">
            <a:avLst/>
          </a:prstGeom>
          <a:solidFill>
            <a:srgbClr val="C7AA60"/>
          </a:solidFill>
          <a:ln>
            <a:noFill/>
          </a:ln>
        </p:spPr>
      </p:sp>
      <p:sp>
        <p:nvSpPr>
          <p:cNvPr id="14" name="Text 14"/>
          <p:cNvSpPr txBox="1"/>
          <p:nvPr/>
        </p:nvSpPr>
        <p:spPr>
          <a:xfrm>
            <a:off x="1041400" y="49657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203A2A"/>
                </a:solidFill>
                <a:latin typeface="Segoe UI"/>
              </a:rPr>
              <a:t xml:space="preserve">Improve the workflow and test the next batch</a:t>
            </a:r>
            <a:endParaRPr lang="en-US" sz="2300"/>
          </a:p>
        </p:txBody>
      </p:sp>
      <p:sp>
        <p:nvSpPr>
          <p:cNvPr id="15" name="Text 15"/>
          <p:cNvSpPr txBox="1"/>
          <p:nvPr/>
        </p:nvSpPr>
        <p:spPr>
          <a:xfrm>
            <a:off x="762000" y="5829300"/>
            <a:ext cx="10541000" cy="444500"/>
          </a:xfrm>
          <a:prstGeom prst="rect">
            <a:avLst/>
          </a:prstGeom>
          <a:noFill/>
          <a:ln>
            <a:noFill/>
          </a:ln>
        </p:spPr>
        <p:txBody>
          <a:bodyPr wrap="square" lIns="0" rIns="0" tIns="0" bIns="0" anchor="t">
            <a:noAutofit/>
          </a:bodyPr>
          <a:lstStyle/>
          <a:p>
            <a:pPr>
              <a:spcAft>
                <a:spcPts val="800"/>
              </a:spcAft>
            </a:pPr>
            <a:r>
              <a:rPr lang="en-US" sz="1500" b="0">
                <a:solidFill>
                  <a:srgbClr val="526657"/>
                </a:solidFill>
                <a:latin typeface="Segoe UI"/>
              </a:rPr>
              <a:t xml:space="preserve">Research Learning framing; no additional institutional rubric was supplied.</a:t>
            </a:r>
            <a:endParaRPr lang="en-US" sz="15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3D2A"/>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CBDAC7"/>
                </a:solidFill>
                <a:latin typeface="Segoe UI"/>
              </a:rPr>
              <a:t xml:space="preserve">09 · THE NEXT STEP</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CAAPS / 10</a:t>
            </a:r>
            <a:endParaRPr lang="en-US" sz="1000"/>
          </a:p>
        </p:txBody>
      </p:sp>
      <p:sp>
        <p:nvSpPr>
          <p:cNvPr id="5" name="Text 5"/>
          <p:cNvSpPr txBox="1"/>
          <p:nvPr/>
        </p:nvSpPr>
        <p:spPr>
          <a:xfrm>
            <a:off x="10795000" y="6438900"/>
            <a:ext cx="889000" cy="228600"/>
          </a:xfrm>
          <a:prstGeom prst="rect">
            <a:avLst/>
          </a:prstGeom>
          <a:noFill/>
          <a:ln>
            <a:noFill/>
          </a:ln>
        </p:spPr>
        <p:txBody>
          <a:bodyPr wrap="square" lIns="0" rIns="0" tIns="0" bIns="0" anchor="t">
            <a:noAutofit/>
          </a:bodyPr>
          <a:lstStyle/>
          <a:p>
            <a:pPr>
              <a:spcAft>
                <a:spcPts val="800"/>
              </a:spcAft>
            </a:pPr>
            <a:r>
              <a:rPr lang="en-US" sz="1000" b="0">
                <a:solidFill>
                  <a:srgbClr val="CBDAC7"/>
                </a:solidFill>
                <a:latin typeface="Segoe UI"/>
              </a:rPr>
              <a:t xml:space="preserve">35 sec</a:t>
            </a:r>
            <a:endParaRPr lang="en-US" sz="1000"/>
          </a:p>
        </p:txBody>
      </p:sp>
      <p:sp>
        <p:nvSpPr>
          <p:cNvPr id="6" name="Text 6"/>
          <p:cNvSpPr txBox="1"/>
          <p:nvPr/>
        </p:nvSpPr>
        <p:spPr>
          <a:xfrm>
            <a:off x="635000" y="1041400"/>
            <a:ext cx="10922000" cy="1270000"/>
          </a:xfrm>
          <a:prstGeom prst="rect">
            <a:avLst/>
          </a:prstGeom>
          <a:noFill/>
          <a:ln>
            <a:noFill/>
          </a:ln>
        </p:spPr>
        <p:txBody>
          <a:bodyPr wrap="square" lIns="0" rIns="0" tIns="0" bIns="0" anchor="t">
            <a:noAutofit/>
          </a:bodyPr>
          <a:lstStyle/>
          <a:p>
            <a:pPr>
              <a:spcAft>
                <a:spcPts val="800"/>
              </a:spcAft>
            </a:pPr>
            <a:r>
              <a:rPr lang="en-US" sz="3500" b="1">
                <a:solidFill>
                  <a:srgbClr val="F5F4E9"/>
                </a:solidFill>
                <a:latin typeface="Segoe UI"/>
              </a:rPr>
              <a:t xml:space="preserve">Help us test the workflow</a:t>
            </a:r>
            <a:endParaRPr lang="en-US" sz="3500"/>
          </a:p>
          <a:p>
            <a:pPr>
              <a:spcAft>
                <a:spcPts val="800"/>
              </a:spcAft>
            </a:pPr>
            <a:r>
              <a:rPr lang="en-US" sz="3500" b="1">
                <a:solidFill>
                  <a:srgbClr val="F5F4E9"/>
                </a:solidFill>
                <a:latin typeface="Segoe UI"/>
              </a:rPr>
              <a:t xml:space="preserve">where the work happens.</a:t>
            </a:r>
            <a:endParaRPr lang="en-US" sz="3500"/>
          </a:p>
        </p:txBody>
      </p:sp>
      <p:sp>
        <p:nvSpPr>
          <p:cNvPr id="7" name="Panel 7"/>
          <p:cNvSpPr/>
          <p:nvPr/>
        </p:nvSpPr>
        <p:spPr>
          <a:xfrm>
            <a:off x="762000" y="2717800"/>
            <a:ext cx="76200" cy="76200"/>
          </a:xfrm>
          <a:prstGeom prst="rect">
            <a:avLst/>
          </a:prstGeom>
          <a:solidFill>
            <a:srgbClr val="C7AA60"/>
          </a:solidFill>
          <a:ln>
            <a:noFill/>
          </a:ln>
        </p:spPr>
      </p:sp>
      <p:sp>
        <p:nvSpPr>
          <p:cNvPr id="8" name="Text 8"/>
          <p:cNvSpPr txBox="1"/>
          <p:nvPr/>
        </p:nvSpPr>
        <p:spPr>
          <a:xfrm>
            <a:off x="1041400" y="26035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F5F4E9"/>
                </a:solidFill>
                <a:latin typeface="Segoe UI"/>
              </a:rPr>
              <a:t xml:space="preserve">A cooperative and 3–5 farmer participants</a:t>
            </a:r>
            <a:endParaRPr lang="en-US" sz="2300"/>
          </a:p>
        </p:txBody>
      </p:sp>
      <p:sp>
        <p:nvSpPr>
          <p:cNvPr id="9" name="Panel 9"/>
          <p:cNvSpPr/>
          <p:nvPr/>
        </p:nvSpPr>
        <p:spPr>
          <a:xfrm>
            <a:off x="762000" y="3505200"/>
            <a:ext cx="76200" cy="76200"/>
          </a:xfrm>
          <a:prstGeom prst="rect">
            <a:avLst/>
          </a:prstGeom>
          <a:solidFill>
            <a:srgbClr val="C7AA60"/>
          </a:solidFill>
          <a:ln>
            <a:noFill/>
          </a:ln>
        </p:spPr>
      </p:sp>
      <p:sp>
        <p:nvSpPr>
          <p:cNvPr id="10" name="Text 10"/>
          <p:cNvSpPr txBox="1"/>
          <p:nvPr/>
        </p:nvSpPr>
        <p:spPr>
          <a:xfrm>
            <a:off x="1041400" y="33909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F5F4E9"/>
                </a:solidFill>
                <a:latin typeface="Segoe UI"/>
              </a:rPr>
              <a:t xml:space="preserve">A qualified reviewer and buyer-agreed criteria</a:t>
            </a:r>
            <a:endParaRPr lang="en-US" sz="2300"/>
          </a:p>
        </p:txBody>
      </p:sp>
      <p:sp>
        <p:nvSpPr>
          <p:cNvPr id="11" name="Panel 11"/>
          <p:cNvSpPr/>
          <p:nvPr/>
        </p:nvSpPr>
        <p:spPr>
          <a:xfrm>
            <a:off x="762000" y="4292600"/>
            <a:ext cx="76200" cy="76200"/>
          </a:xfrm>
          <a:prstGeom prst="rect">
            <a:avLst/>
          </a:prstGeom>
          <a:solidFill>
            <a:srgbClr val="C7AA60"/>
          </a:solidFill>
          <a:ln>
            <a:noFill/>
          </a:ln>
        </p:spPr>
      </p:sp>
      <p:sp>
        <p:nvSpPr>
          <p:cNvPr id="12" name="Text 12"/>
          <p:cNvSpPr txBox="1"/>
          <p:nvPr/>
        </p:nvSpPr>
        <p:spPr>
          <a:xfrm>
            <a:off x="1041400" y="41783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F5F4E9"/>
                </a:solidFill>
                <a:latin typeface="Segoe UI"/>
              </a:rPr>
              <a:t xml:space="preserve">Access to basic measurement tools and facilities</a:t>
            </a:r>
            <a:endParaRPr lang="en-US" sz="2300"/>
          </a:p>
        </p:txBody>
      </p:sp>
      <p:sp>
        <p:nvSpPr>
          <p:cNvPr id="13" name="Panel 13"/>
          <p:cNvSpPr/>
          <p:nvPr/>
        </p:nvSpPr>
        <p:spPr>
          <a:xfrm>
            <a:off x="762000" y="5080000"/>
            <a:ext cx="76200" cy="76200"/>
          </a:xfrm>
          <a:prstGeom prst="rect">
            <a:avLst/>
          </a:prstGeom>
          <a:solidFill>
            <a:srgbClr val="C7AA60"/>
          </a:solidFill>
          <a:ln>
            <a:noFill/>
          </a:ln>
        </p:spPr>
      </p:sp>
      <p:sp>
        <p:nvSpPr>
          <p:cNvPr id="14" name="Text 14"/>
          <p:cNvSpPr txBox="1"/>
          <p:nvPr/>
        </p:nvSpPr>
        <p:spPr>
          <a:xfrm>
            <a:off x="1041400" y="4965700"/>
            <a:ext cx="10261600" cy="685800"/>
          </a:xfrm>
          <a:prstGeom prst="rect">
            <a:avLst/>
          </a:prstGeom>
          <a:noFill/>
          <a:ln>
            <a:noFill/>
          </a:ln>
        </p:spPr>
        <p:txBody>
          <a:bodyPr wrap="square" lIns="0" rIns="0" tIns="0" bIns="0" anchor="t">
            <a:noAutofit/>
          </a:bodyPr>
          <a:lstStyle/>
          <a:p>
            <a:pPr>
              <a:spcAft>
                <a:spcPts val="800"/>
              </a:spcAft>
            </a:pPr>
            <a:r>
              <a:rPr lang="en-US" sz="2300" b="0">
                <a:solidFill>
                  <a:srgbClr val="F5F4E9"/>
                </a:solidFill>
                <a:latin typeface="Segoe UI"/>
              </a:rPr>
              <a:t xml:space="preserve">A baseline review and regular learning sessions</a:t>
            </a:r>
            <a:endParaRPr lang="en-US" sz="2300"/>
          </a:p>
        </p:txBody>
      </p:sp>
      <p:sp>
        <p:nvSpPr>
          <p:cNvPr id="15" name="Text 15"/>
          <p:cNvSpPr txBox="1"/>
          <p:nvPr/>
        </p:nvSpPr>
        <p:spPr>
          <a:xfrm>
            <a:off x="762000" y="5829300"/>
            <a:ext cx="10541000" cy="444500"/>
          </a:xfrm>
          <a:prstGeom prst="rect">
            <a:avLst/>
          </a:prstGeom>
          <a:noFill/>
          <a:ln>
            <a:noFill/>
          </a:ln>
        </p:spPr>
        <p:txBody>
          <a:bodyPr wrap="square" lIns="0" rIns="0" tIns="0" bIns="0" anchor="t">
            <a:noAutofit/>
          </a:bodyPr>
          <a:lstStyle/>
          <a:p>
            <a:pPr>
              <a:spcAft>
                <a:spcPts val="800"/>
              </a:spcAft>
            </a:pPr>
            <a:r>
              <a:rPr lang="en-US" sz="1500" b="0">
                <a:solidFill>
                  <a:srgbClr val="CBDAC7"/>
                </a:solidFill>
                <a:latin typeface="Segoe UI"/>
              </a:rPr>
              <a:t xml:space="preserve">CaAPs turns a process into records people can review together.</a:t>
            </a:r>
            <a:endParaRPr lang="en-US" sz="15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4E9"/>
        </a:solidFill>
        <a:effectLst/>
      </p:bgPr>
    </p:bg>
    <p:spTree>
      <p:nvGrpSpPr>
        <p:cNvPr id="1" name=""/>
        <p:cNvGrpSpPr/>
        <p:nvPr/>
      </p:nvGrpSpPr>
      <p:grpSpPr>
        <a:xfrm>
          <a:off x="0" y="0"/>
          <a:ext cx="0" cy="0"/>
          <a:chOff x="0" y="0"/>
          <a:chExt cx="0" cy="0"/>
        </a:xfrm>
      </p:grpSpPr>
      <p:sp>
        <p:nvSpPr>
          <p:cNvPr id="2" name="Panel 2"/>
          <p:cNvSpPr/>
          <p:nvPr/>
        </p:nvSpPr>
        <p:spPr>
          <a:xfrm>
            <a:off x="508000" y="444500"/>
            <a:ext cx="355600" cy="50800"/>
          </a:xfrm>
          <a:prstGeom prst="rect">
            <a:avLst/>
          </a:prstGeom>
          <a:solidFill>
            <a:srgbClr val="C7AA60"/>
          </a:solidFill>
          <a:ln>
            <a:noFill/>
          </a:ln>
        </p:spPr>
      </p:sp>
      <p:sp>
        <p:nvSpPr>
          <p:cNvPr id="3" name="Text 3"/>
          <p:cNvSpPr txBox="1"/>
          <p:nvPr/>
        </p:nvSpPr>
        <p:spPr>
          <a:xfrm>
            <a:off x="1016000" y="368300"/>
            <a:ext cx="9779000" cy="304800"/>
          </a:xfrm>
          <a:prstGeom prst="rect">
            <a:avLst/>
          </a:prstGeom>
          <a:noFill/>
          <a:ln>
            <a:noFill/>
          </a:ln>
        </p:spPr>
        <p:txBody>
          <a:bodyPr wrap="square" lIns="0" rIns="0" tIns="0" bIns="0" anchor="t">
            <a:noAutofit/>
          </a:bodyPr>
          <a:lstStyle/>
          <a:p>
            <a:pPr>
              <a:spcAft>
                <a:spcPts val="800"/>
              </a:spcAft>
            </a:pPr>
            <a:r>
              <a:rPr lang="en-US" sz="1100" b="1">
                <a:solidFill>
                  <a:srgbClr val="526657"/>
                </a:solidFill>
                <a:latin typeface="Segoe UI"/>
              </a:rPr>
              <a:t xml:space="preserve">APPENDIX · NOT PART OF THE TIMED PITCH</a:t>
            </a:r>
            <a:endParaRPr lang="en-US" sz="1100"/>
          </a:p>
        </p:txBody>
      </p:sp>
      <p:sp>
        <p:nvSpPr>
          <p:cNvPr id="4" name="Text 4"/>
          <p:cNvSpPr txBox="1"/>
          <p:nvPr/>
        </p:nvSpPr>
        <p:spPr>
          <a:xfrm>
            <a:off x="508000" y="6438900"/>
            <a:ext cx="3175000" cy="2286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CAAPS / 11</a:t>
            </a:r>
            <a:endParaRPr lang="en-US" sz="1000"/>
          </a:p>
        </p:txBody>
      </p:sp>
      <p:sp>
        <p:nvSpPr>
          <p:cNvPr id="5" name="Text 5"/>
          <p:cNvSpPr txBox="1"/>
          <p:nvPr/>
        </p:nvSpPr>
        <p:spPr>
          <a:xfrm>
            <a:off x="635000" y="1054100"/>
            <a:ext cx="10922000" cy="825500"/>
          </a:xfrm>
          <a:prstGeom prst="rect">
            <a:avLst/>
          </a:prstGeom>
          <a:noFill/>
          <a:ln>
            <a:noFill/>
          </a:ln>
        </p:spPr>
        <p:txBody>
          <a:bodyPr wrap="square" lIns="0" rIns="0" tIns="0" bIns="0" anchor="t">
            <a:noAutofit/>
          </a:bodyPr>
          <a:lstStyle/>
          <a:p>
            <a:pPr>
              <a:spcAft>
                <a:spcPts val="800"/>
              </a:spcAft>
            </a:pPr>
            <a:r>
              <a:rPr lang="en-US" sz="3400" b="1">
                <a:solidFill>
                  <a:srgbClr val="203A2A"/>
                </a:solidFill>
                <a:latin typeface="Segoe UI"/>
              </a:rPr>
              <a:t xml:space="preserve">Sources, assumptions and evidence</a:t>
            </a:r>
            <a:endParaRPr lang="en-US" sz="3400"/>
          </a:p>
        </p:txBody>
      </p:sp>
      <p:sp>
        <p:nvSpPr>
          <p:cNvPr id="6" name="Panel 6"/>
          <p:cNvSpPr/>
          <p:nvPr/>
        </p:nvSpPr>
        <p:spPr>
          <a:xfrm>
            <a:off x="635000" y="2273300"/>
            <a:ext cx="76200" cy="76200"/>
          </a:xfrm>
          <a:prstGeom prst="rect">
            <a:avLst/>
          </a:prstGeom>
          <a:solidFill>
            <a:srgbClr val="C7AA60"/>
          </a:solidFill>
          <a:ln>
            <a:noFill/>
          </a:ln>
        </p:spPr>
      </p:sp>
      <p:sp>
        <p:nvSpPr>
          <p:cNvPr id="7" name="Text 7"/>
          <p:cNvSpPr txBox="1"/>
          <p:nvPr/>
        </p:nvSpPr>
        <p:spPr>
          <a:xfrm>
            <a:off x="914400" y="2159000"/>
            <a:ext cx="10515600" cy="508000"/>
          </a:xfrm>
          <a:prstGeom prst="rect">
            <a:avLst/>
          </a:prstGeom>
          <a:noFill/>
          <a:ln>
            <a:noFill/>
          </a:ln>
        </p:spPr>
        <p:txBody>
          <a:bodyPr wrap="square" lIns="0" rIns="0" tIns="0" bIns="0" anchor="t">
            <a:noAutofit/>
          </a:bodyPr>
          <a:lstStyle/>
          <a:p>
            <a:pPr>
              <a:spcAft>
                <a:spcPts val="800"/>
              </a:spcAft>
            </a:pPr>
            <a:r>
              <a:rPr lang="en-US" sz="1700" b="0">
                <a:solidFill>
                  <a:srgbClr val="203A2A"/>
                </a:solidFill>
                <a:latin typeface="Segoe UI"/>
              </a:rPr>
              <a:t xml:space="preserve">Industry challenge poster supplied by the user: Zamboanga del Norte cacao sector; 30–40% statement requires local validation.</a:t>
            </a:r>
            <a:endParaRPr lang="en-US" sz="1700"/>
          </a:p>
        </p:txBody>
      </p:sp>
      <p:sp>
        <p:nvSpPr>
          <p:cNvPr id="8" name="Panel 8"/>
          <p:cNvSpPr/>
          <p:nvPr/>
        </p:nvSpPr>
        <p:spPr>
          <a:xfrm>
            <a:off x="635000" y="2882900"/>
            <a:ext cx="76200" cy="76200"/>
          </a:xfrm>
          <a:prstGeom prst="rect">
            <a:avLst/>
          </a:prstGeom>
          <a:solidFill>
            <a:srgbClr val="C7AA60"/>
          </a:solidFill>
          <a:ln>
            <a:noFill/>
          </a:ln>
        </p:spPr>
      </p:sp>
      <p:sp>
        <p:nvSpPr>
          <p:cNvPr id="9" name="Text 9"/>
          <p:cNvSpPr txBox="1"/>
          <p:nvPr/>
        </p:nvSpPr>
        <p:spPr>
          <a:xfrm>
            <a:off x="914400" y="2768600"/>
            <a:ext cx="10515600" cy="508000"/>
          </a:xfrm>
          <a:prstGeom prst="rect">
            <a:avLst/>
          </a:prstGeom>
          <a:noFill/>
          <a:ln>
            <a:noFill/>
          </a:ln>
        </p:spPr>
        <p:txBody>
          <a:bodyPr wrap="square" lIns="0" rIns="0" tIns="0" bIns="0" anchor="t">
            <a:noAutofit/>
          </a:bodyPr>
          <a:lstStyle/>
          <a:p>
            <a:pPr>
              <a:spcAft>
                <a:spcPts val="800"/>
              </a:spcAft>
            </a:pPr>
            <a:r>
              <a:rPr lang="en-US" sz="1700" b="0">
                <a:solidFill>
                  <a:srgbClr val="203A2A"/>
                </a:solidFill>
                <a:latin typeface="Segoe UI"/>
              </a:rPr>
              <a:t xml:space="preserve">ICCO: Harvesting &amp; Post-harvest</a:t>
            </a:r>
            <a:endParaRPr lang="en-US" sz="1700"/>
          </a:p>
        </p:txBody>
      </p:sp>
      <p:sp>
        <p:nvSpPr>
          <p:cNvPr id="10" name="Panel 10"/>
          <p:cNvSpPr/>
          <p:nvPr/>
        </p:nvSpPr>
        <p:spPr>
          <a:xfrm>
            <a:off x="635000" y="3492500"/>
            <a:ext cx="76200" cy="76200"/>
          </a:xfrm>
          <a:prstGeom prst="rect">
            <a:avLst/>
          </a:prstGeom>
          <a:solidFill>
            <a:srgbClr val="C7AA60"/>
          </a:solidFill>
          <a:ln>
            <a:noFill/>
          </a:ln>
        </p:spPr>
      </p:sp>
      <p:sp>
        <p:nvSpPr>
          <p:cNvPr id="11" name="Text 11"/>
          <p:cNvSpPr txBox="1"/>
          <p:nvPr/>
        </p:nvSpPr>
        <p:spPr>
          <a:xfrm>
            <a:off x="914400" y="3378200"/>
            <a:ext cx="10515600" cy="508000"/>
          </a:xfrm>
          <a:prstGeom prst="rect">
            <a:avLst/>
          </a:prstGeom>
          <a:noFill/>
          <a:ln>
            <a:noFill/>
          </a:ln>
        </p:spPr>
        <p:txBody>
          <a:bodyPr wrap="square" lIns="0" rIns="0" tIns="0" bIns="0" anchor="t">
            <a:noAutofit/>
          </a:bodyPr>
          <a:lstStyle/>
          <a:p>
            <a:pPr>
              <a:spcAft>
                <a:spcPts val="800"/>
              </a:spcAft>
            </a:pPr>
            <a:r>
              <a:rPr lang="en-US" sz="1700" b="0">
                <a:solidFill>
                  <a:srgbClr val="203A2A"/>
                </a:solidFill>
                <a:latin typeface="Segoe UI"/>
              </a:rPr>
              <a:t xml:space="preserve">DOST-PCAARRD: Cacao Industry Profile</a:t>
            </a:r>
            <a:endParaRPr lang="en-US" sz="1700"/>
          </a:p>
        </p:txBody>
      </p:sp>
      <p:sp>
        <p:nvSpPr>
          <p:cNvPr id="12" name="Panel 12"/>
          <p:cNvSpPr/>
          <p:nvPr/>
        </p:nvSpPr>
        <p:spPr>
          <a:xfrm>
            <a:off x="635000" y="4102100"/>
            <a:ext cx="76200" cy="76200"/>
          </a:xfrm>
          <a:prstGeom prst="rect">
            <a:avLst/>
          </a:prstGeom>
          <a:solidFill>
            <a:srgbClr val="C7AA60"/>
          </a:solidFill>
          <a:ln>
            <a:noFill/>
          </a:ln>
        </p:spPr>
      </p:sp>
      <p:sp>
        <p:nvSpPr>
          <p:cNvPr id="13" name="Text 13"/>
          <p:cNvSpPr txBox="1"/>
          <p:nvPr/>
        </p:nvSpPr>
        <p:spPr>
          <a:xfrm>
            <a:off x="914400" y="3987800"/>
            <a:ext cx="10515600" cy="508000"/>
          </a:xfrm>
          <a:prstGeom prst="rect">
            <a:avLst/>
          </a:prstGeom>
          <a:noFill/>
          <a:ln>
            <a:noFill/>
          </a:ln>
        </p:spPr>
        <p:txBody>
          <a:bodyPr wrap="square" lIns="0" rIns="0" tIns="0" bIns="0" anchor="t">
            <a:noAutofit/>
          </a:bodyPr>
          <a:lstStyle/>
          <a:p>
            <a:pPr>
              <a:spcAft>
                <a:spcPts val="800"/>
              </a:spcAft>
            </a:pPr>
            <a:r>
              <a:rPr lang="en-US" sz="1700" b="0">
                <a:solidFill>
                  <a:srgbClr val="203A2A"/>
                </a:solidFill>
                <a:latin typeface="Segoe UI"/>
              </a:rPr>
              <a:t xml:space="preserve">TESDA: Cacao Bean Grading Level II</a:t>
            </a:r>
            <a:endParaRPr lang="en-US" sz="1700"/>
          </a:p>
        </p:txBody>
      </p:sp>
      <p:sp>
        <p:nvSpPr>
          <p:cNvPr id="14" name="Panel 14"/>
          <p:cNvSpPr/>
          <p:nvPr/>
        </p:nvSpPr>
        <p:spPr>
          <a:xfrm>
            <a:off x="635000" y="4711700"/>
            <a:ext cx="76200" cy="76200"/>
          </a:xfrm>
          <a:prstGeom prst="rect">
            <a:avLst/>
          </a:prstGeom>
          <a:solidFill>
            <a:srgbClr val="C7AA60"/>
          </a:solidFill>
          <a:ln>
            <a:noFill/>
          </a:ln>
        </p:spPr>
      </p:sp>
      <p:sp>
        <p:nvSpPr>
          <p:cNvPr id="15" name="Text 15"/>
          <p:cNvSpPr txBox="1"/>
          <p:nvPr/>
        </p:nvSpPr>
        <p:spPr>
          <a:xfrm>
            <a:off x="914400" y="4597400"/>
            <a:ext cx="10515600" cy="508000"/>
          </a:xfrm>
          <a:prstGeom prst="rect">
            <a:avLst/>
          </a:prstGeom>
          <a:noFill/>
          <a:ln>
            <a:noFill/>
          </a:ln>
        </p:spPr>
        <p:txBody>
          <a:bodyPr wrap="square" lIns="0" rIns="0" tIns="0" bIns="0" anchor="t">
            <a:noAutofit/>
          </a:bodyPr>
          <a:lstStyle/>
          <a:p>
            <a:pPr>
              <a:spcAft>
                <a:spcPts val="800"/>
              </a:spcAft>
            </a:pPr>
            <a:r>
              <a:rPr lang="en-US" sz="1700" b="0">
                <a:solidFill>
                  <a:srgbClr val="203A2A"/>
                </a:solidFill>
                <a:latin typeface="Segoe UI"/>
              </a:rPr>
              <a:t xml:space="preserve">Local software tests use fixtures. Pilot scope and timing are proposals.</a:t>
            </a:r>
            <a:endParaRPr lang="en-US" sz="1700"/>
          </a:p>
        </p:txBody>
      </p:sp>
      <p:sp>
        <p:nvSpPr>
          <p:cNvPr id="16" name="Text 16"/>
          <p:cNvSpPr txBox="1"/>
          <p:nvPr/>
        </p:nvSpPr>
        <p:spPr>
          <a:xfrm>
            <a:off x="889000" y="5334000"/>
            <a:ext cx="10541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https://www.icco.org/harvesting-post-harvest-new/</a:t>
            </a:r>
            <a:endParaRPr lang="en-US" sz="1000"/>
          </a:p>
        </p:txBody>
      </p:sp>
      <p:sp>
        <p:nvSpPr>
          <p:cNvPr id="17" name="Text 17"/>
          <p:cNvSpPr txBox="1"/>
          <p:nvPr/>
        </p:nvSpPr>
        <p:spPr>
          <a:xfrm>
            <a:off x="889000" y="5613400"/>
            <a:ext cx="10541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https://ispweb.pcaarrd.dost.gov.ph/isp-commodities/cacao/</a:t>
            </a:r>
            <a:endParaRPr lang="en-US" sz="1000"/>
          </a:p>
        </p:txBody>
      </p:sp>
      <p:sp>
        <p:nvSpPr>
          <p:cNvPr id="18" name="Text 18"/>
          <p:cNvSpPr txBox="1"/>
          <p:nvPr/>
        </p:nvSpPr>
        <p:spPr>
          <a:xfrm>
            <a:off x="889000" y="5892800"/>
            <a:ext cx="10541000" cy="279400"/>
          </a:xfrm>
          <a:prstGeom prst="rect">
            <a:avLst/>
          </a:prstGeom>
          <a:noFill/>
          <a:ln>
            <a:noFill/>
          </a:ln>
        </p:spPr>
        <p:txBody>
          <a:bodyPr wrap="square" lIns="0" rIns="0" tIns="0" bIns="0" anchor="t">
            <a:noAutofit/>
          </a:bodyPr>
          <a:lstStyle/>
          <a:p>
            <a:pPr>
              <a:spcAft>
                <a:spcPts val="800"/>
              </a:spcAft>
            </a:pPr>
            <a:r>
              <a:rPr lang="en-US" sz="1000" b="0">
                <a:solidFill>
                  <a:srgbClr val="526657"/>
                </a:solidFill>
                <a:latin typeface="Segoe UI"/>
              </a:rPr>
              <a:t xml:space="preserve">https://www.tesda.gov.ph/Downloadables/CS/CS-%20Cacao%20Bean%20Grading%20Level%20II.pdf</a:t>
            </a:r>
            <a:endParaRPr lang="en-US" sz="1000"/>
          </a:p>
        </p:txBody>
      </p:sp>
    </p:spTree>
  </p:cSld>
  <p:clrMapOvr>
    <a:masterClrMapping/>
  </p:clrMapOvr>
</p:sld>
</file>

<file path=ppt/theme/theme1.xml><?xml version="1.0" encoding="utf-8"?>
<a:theme xmlns:a="http://schemas.openxmlformats.org/drawingml/2006/main" name="CaAPs">
  <a:themeElements>
    <a:clrScheme name="CaAPs">
      <a:dk1>
        <a:srgbClr val="203A2A"/>
      </a:dk1>
      <a:lt1>
        <a:srgbClr val="F5F4E9"/>
      </a:lt1>
      <a:dk2>
        <a:srgbClr val="163D2A"/>
      </a:dk2>
      <a:lt2>
        <a:srgbClr val="FFFFFF"/>
      </a:lt2>
      <a:accent1>
        <a:srgbClr val="2B6941"/>
      </a:accent1>
      <a:accent2>
        <a:srgbClr val="C7AA60"/>
      </a:accent2>
      <a:accent3>
        <a:srgbClr val="80A878"/>
      </a:accent3>
      <a:accent4>
        <a:srgbClr val="754C32"/>
      </a:accent4>
      <a:accent5>
        <a:srgbClr val="416A4C"/>
      </a:accent5>
      <a:accent6>
        <a:srgbClr val="AFBF9C"/>
      </a:accent6>
      <a:hlink>
        <a:srgbClr val="285D38"/>
      </a:hlink>
      <a:folHlink>
        <a:srgbClr val="754C32"/>
      </a:folHlink>
    </a:clrScheme>
    <a:fontScheme name="Segoe UI">
      <a:majorFont>
        <a:latin typeface="Segoe UI"/>
        <a:ea typeface=""/>
        <a:cs typeface=""/>
      </a:majorFont>
      <a:minorFont>
        <a:latin typeface="Segoe UI"/>
        <a:ea typeface=""/>
        <a:cs typeface=""/>
      </a:minorFont>
    </a:fontScheme>
    <a:fmtScheme name="CaAPs">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CaAPs presentation builder</Application>
  <PresentationFormat>On-screen Show (16:9)</PresentationFormat>
  <Slides>11</Slides>
  <Notes>11</Notes>
</Properties>
</file>

<file path=docProps/core.xml><?xml version="1.0" encoding="utf-8"?>
<cp:coreProperties xmlns:cp="http://schemas.openxmlformats.org/package/2006/metadata/core-properties" xmlns:dc="http://purl.org/dc/elements/1.1/" xmlns:dcterms="http://purl.org/dc/terms/" xmlns:xsi="http://www.w3.org/2001/XMLSchema-instance">
  <dc:title>CaAPs Research Learning Pitch</dc:title>
  <dc:creator>CaAPs Team</dc:creator>
  <dc:description>Five-minute prototype pitch. Demonstration data and proposed pilot are explicitly labeled.</dc:description>
  <dcterms:created xsi:type="dcterms:W3CDTF">2026-10-27T01:41:12.097Z</dcterms:created>
</cp:coreProperties>
</file>